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CAAS forecasts PM2.5 at 3 horizons and auto-alerts.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recurring health crisis, no forecasting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objectives: forecast / alert / MLOps. Integration over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Champion selection: LightGBM beats XGBoost at all horizons, beats LSTM except t+7 R².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926080"/>
            <a:ext cx="548640" cy="45720"/>
          </a:xfrm>
          <a:prstGeom prst="rect">
            <a:avLst/>
          </a:prstGeom>
          <a:solidFill>
            <a:srgbClr val="E8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CAPSTONE  ·  AT82.9002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840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CAAS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ChiangMai Air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Quality Alert</a:t>
            </a:r>
          </a:p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PM2.5 forecasting at t+1 / t+3 / t+7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3716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Supanut Kompayak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874519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st126055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5146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Shuvam Shrestha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017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st125975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3931920"/>
            <a:ext cx="5943600" cy="36576"/>
          </a:xfrm>
          <a:prstGeom prst="rect">
            <a:avLst/>
          </a:prstGeom>
          <a:solidFill>
            <a:srgbClr val="D5D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206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5262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AT82.9002  Data Engineering and MLOps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Asian Institute of Technology  ·  2026 cohort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60350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ADVISORS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6355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Prof. Chaklam Silpasuwanchai  ·  Prof. Chantri Polprasert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Chiang Mai's PM2.5 crisis — an annual public-health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Every dry season (Feb–Apr), Chiang Mai's air exceeds WHO safe limits by order of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PEAK POLLUTION (2024 dry season)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0F52BA"/>
                </a:solidFill>
                <a:latin typeface="Calibri"/>
              </a:rPr>
              <a:t>241 µg/m³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PM2.5 — that's 16× the WHO 24-hour limit (15 µg/m³).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029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1.2 M residents in the Chiang Mai metro area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+12 % all-cause mortality on high-PM days (Thai PCD, 2023)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Existing air4thai.pcd.go.th publishes current levels only — no forecast</a:t>
            </a:r>
          </a:p>
        </p:txBody>
      </p:sp>
      <p:pic>
        <p:nvPicPr>
          <p:cNvPr id="13" name="Picture 12" descr="fig_haz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63040"/>
            <a:ext cx="5852160" cy="4937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Thai Pollution Control Dept. · WHO AQ guidelines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Forecast, alert, operate — end-to-end, not just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02757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alibri"/>
              </a:rPr>
              <a:t>Predict daily PM2.5 at t+1, t+3, t+7 days over Chiang Mai with leakage-free chronological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21945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5146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520440"/>
            <a:ext cx="302757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alibri"/>
              </a:rPr>
              <a:t>Classify whether each horizon will exceed 50 µg/m³ (Thai PCD alert band) with operationally useful precision/recall.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2596" y="2194560"/>
            <a:ext cx="30275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514600"/>
            <a:ext cx="302757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MLOps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520440"/>
            <a:ext cx="302757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alibri"/>
              </a:rPr>
              <a:t>Deploy the whole stack — ingest, train, serve, monitor — with automated drift detection and champion/challenger promotion.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Differentiator — multi-horizon forecast + fire-feature ablation + production MLOps on a low-budget EC2 footprint.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One ingest path, one feature store, one serving plane</a:t>
            </a:r>
          </a:p>
        </p:txBody>
      </p:sp>
      <p:pic>
        <p:nvPicPr>
          <p:cNvPr id="6" name="Picture 5" descr="fig_clou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1323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3 sources → S3 raw/ (PCD Excel, Open-Meteo, NASA FIRMS)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61488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2761488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852928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27248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build_features.py → 45 chronological-safe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694176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3694176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78561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059936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XGBoost + LightGBM + LSTM, tracked in MLflow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626864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4626864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718304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992624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FastAPI /predict + Streamlit dashboard on EC2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5559552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559552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5650992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925312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Evidently PSI/KS drift + auto-retrain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Infra: AWS S3 + EC2 t3.micro + Terraform IaC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Three heterogeneous sources → one 45-feature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Daily cron pulls fresh data; build_features.py produces the training-identical feature vector for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01 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11901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Thai PCD PM2.5 — Excel archives (2011 → now)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Open-Meteo — hourly weather JSON API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NASA FIRMS — daily fire hotspots (MAP_KEY)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S3 tiered: raw/ → processed/ → models/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338" y="20116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02 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606040"/>
            <a:ext cx="311901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build_features.py — single source of truth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Lag features: pm25_lag{1,3,7}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Rolling windows: 3d / 7d / 14d aggregates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Burn-load: firms_24h_count, brightness_max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6876" y="2011680"/>
            <a:ext cx="31190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03  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876" y="2606040"/>
            <a:ext cx="3119018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features.csv (45 cols) → XGBoost / LightGBM / LSTM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FastAPI /predict returns t+1/3/7 in one call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Alert decision via Scenario C PR thresholds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Champion auto-promoted on ≥5 % MAE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Features: 03_Data/processed/features.csv  ·  build script: 04_Scripts/build_features.py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Signal shifts from autocorrelation to weather as horizon grows</a:t>
            </a:r>
          </a:p>
        </p:txBody>
      </p:sp>
      <p:pic>
        <p:nvPicPr>
          <p:cNvPr id="6" name="Picture 5" descr="fig_shap_summary_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DOMINANT DRIVERS BY HORIZON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3852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T+1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26771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pm25_lag1, pm25_roll3_mean — same-day autocorrelation.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303580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T+3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6499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firms_24h_count, brightness_max — burn-load climbs into top 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02336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413308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T+7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46227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wind_speed_7d, temperature_7d — atmospheric regime dominates.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57784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alibri"/>
              </a:rPr>
              <a:t>Mirrors atmospheric physics — PM2.5 transport and boundary-layer evolution.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SHAP values: 03_Data/results/shap_summary.json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MODELS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LightGBM is champion — lower MAE than XGBoost and LSTM at every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0352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CHAMPION · LIGHTGBM (45 features)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MAE t+1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9736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Calibri"/>
              </a:rPr>
              <a:t>5.12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Alert F1 0.852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MAE t+3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59736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Calibri"/>
              </a:rPr>
              <a:t>6.77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Alert F1 0.747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MAE t+7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459736"/>
            <a:ext cx="1371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Calibri"/>
              </a:rPr>
              <a:t>8.25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Alert F1 0.713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WHY LIGHTGBM WON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41648"/>
            <a:ext cx="5303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Lower MAE at every horizon (5.12 vs XGBoost 5.31 at t+1)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Best alert F1 at t+1 (0.852) — operationally usable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Same 45-feature input — fair head-to-head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Promoted via ≥5 % MAE gate on 2026-04-18</a:t>
            </a:r>
          </a:p>
        </p:txBody>
      </p:sp>
      <p:pic>
        <p:nvPicPr>
          <p:cNvPr id="22" name="Picture 21" descr="mae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35029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09360" y="5074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Test MAE per horizon — LightGBM (champion), XGBoost, 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03_Data/results/{lightgbm,xgboost,lstm}_summary.json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FORECAST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LightGBM tracks observed PM2.5 — including the 2024 dry-season peaks</a:t>
            </a:r>
          </a:p>
        </p:txBody>
      </p:sp>
      <p:pic>
        <p:nvPicPr>
          <p:cNvPr id="6" name="Picture 5" descr="lgb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4124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4630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TEST-SET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2880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9202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9456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alibri"/>
              </a:rPr>
              <a:t>0.841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974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at t+1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310896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4747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alibri"/>
              </a:rPr>
              <a:t>9.00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977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at t+1 (µg/m³)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438912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448056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AUROC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754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alibri"/>
              </a:rPr>
              <a:t>0.992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257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alert · t+1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03_Data/results/lightgbm_summary.json + predictions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ABLATION &amp; ALERT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Fire features matter — and PR-tuned thresholds sharpen the alert</a:t>
            </a:r>
          </a:p>
        </p:txBody>
      </p:sp>
      <p:pic>
        <p:nvPicPr>
          <p:cNvPr id="6" name="Picture 5" descr="fig_firms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3504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T+1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440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alibri"/>
              </a:rPr>
              <a:t>+6.8%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MAE worse w/o FIRMS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52120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T+3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440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alibri"/>
              </a:rPr>
              <a:t>+5.1%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MAE worse w/o FIRMS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52120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T+7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44068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alibri"/>
              </a:rPr>
              <a:t>+4.3%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9893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MAE worse w/o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SCENARIO C  ·  PR-TUNED ALERT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83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Default 50 µg/m³ band tuned per horizon for F1-optimal precision/recall.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t+1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974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alibri"/>
              </a:rPr>
              <a:t>53.7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µg/m³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alibri"/>
              </a:rPr>
              <a:t>+4.0 % F1 gain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t+3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6974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alibri"/>
              </a:rPr>
              <a:t>51.0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µg/m³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alibri"/>
              </a:rPr>
              <a:t>+0.2 % F1 gain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87000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alibri"/>
              </a:rPr>
              <a:t>t+7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6974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alibri"/>
              </a:rPr>
              <a:t>45.8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34290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alibri"/>
              </a:rPr>
              <a:t>µg/m³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alibri"/>
              </a:rPr>
              <a:t>+1.1 % F1 gain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572000"/>
            <a:ext cx="4846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0" y="47091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02920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alibri"/>
              </a:rPr>
              <a:t>Removing FIRMS degrades MAE by 4.3 – 6.8 % — fires are signal, not noise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alibri"/>
              </a:rPr>
              <a:t>PR-tuned thresholds lift F1 up to 4.0 points at t+1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alibri"/>
              </a:rPr>
              <a:t>Lower threshold at t+7 (45.8) captures early-warning regime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Source: ablation_summary.json · scenario_c_summary.json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MLOPS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Daily pipeline + retrain loop — zero-touch when drift stays below policy</a:t>
            </a:r>
          </a:p>
        </p:txBody>
      </p:sp>
      <p:pic>
        <p:nvPicPr>
          <p:cNvPr id="6" name="Picture 5" descr="fig_dail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463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GITHUB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1828800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1938528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test.yml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402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pytest · 45 tests · on every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61488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2761488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871216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daily_pipeline.yml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17296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every 3 h — ingest → predict → upload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694176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03920" y="3694176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803904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drift_check.yml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05656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PSI + KS on rolling 30-day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626864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03920" y="4626864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73659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retrain.yml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38344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triggered when core_drift ≥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62356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5760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🛑  validate_candidate.py blocks promotion</a:t>
            </a:r>
          </a:p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if challenger fails ≥5 % MAE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Workflows: .github/workflows/  ·  MLflow tracking: mlruns/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MONITORING &amp;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Seasonal-aware drift monitor — today's run flagged 2 core + 2 soft drifts</a:t>
            </a:r>
          </a:p>
        </p:txBody>
      </p:sp>
      <p:pic>
        <p:nvPicPr>
          <p:cNvPr id="6" name="Picture 5" descr="fig_drif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463040"/>
            <a:ext cx="438912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0" y="15544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LATEST RUN · 2026-04-21 17:45 +07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82880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retrain_needed =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606040"/>
            <a:ext cx="140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alibri"/>
              </a:rPr>
              <a:t>CORE DRIFTS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834640"/>
            <a:ext cx="121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872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0" y="2606040"/>
            <a:ext cx="140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alibri"/>
              </a:rPr>
              <a:t>SOFT DRIFTS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0" y="2834640"/>
            <a:ext cx="121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0224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93680" y="2606040"/>
            <a:ext cx="140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alibri"/>
              </a:rPr>
              <a:t>MAE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3680" y="2834640"/>
            <a:ext cx="1219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2E8B57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DRIFTED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4389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pm25_lag1, pm25_roll7_mean  (core)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alibri"/>
              </a:rPr>
              <a:t>hotspot_50km, wind_speed  (soft)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303520"/>
            <a:ext cx="4389120" cy="11887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5394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RETRAIN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566928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Trigger when core≥2  OR  (core≥1 AND soft≥2).  is_haze_season is a non-trigger feature — seasonal variation is expected, not drift.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Policy: 05_Reference/monitoring_drift_policy_update_2026-04-03.md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alibri"/>
              </a:rPr>
              <a:t>From commit to forecast — every stage is observable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streaml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5326380" cy="1668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536192"/>
            <a:ext cx="55092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01  STREAMLIT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060" y="146304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6500" y="1874520"/>
            <a:ext cx="5326380" cy="16687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3660" y="1984248"/>
            <a:ext cx="5052060" cy="148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$ curl -X POST 13.250.17.6:8000/predict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      -d '{"date":"2026-04-22"}'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/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{ "t+1": 42.1,   "alert_t1": false,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  "t+3": 58.4,   "alert_t3": true,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  "t+7": 71.2,   "alert_t7": true,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Menlo"/>
              </a:rPr>
              <a:t>  "model": "lightgbm", "version": "v3"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1536192"/>
            <a:ext cx="55092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02  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478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_mlflow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66260"/>
            <a:ext cx="5326380" cy="16687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4027932"/>
            <a:ext cx="55092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03  MLFLOW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95478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4549140"/>
            <a:ext cx="50520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enlo"/>
              </a:rPr>
              <a:t>test.yml              · pytest 45/45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5006340"/>
            <a:ext cx="50520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enlo"/>
              </a:rPr>
              <a:t>daily_pipeline.yml    · ingest + predict + upload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9380" y="5463540"/>
            <a:ext cx="50520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enlo"/>
              </a:rPr>
              <a:t>drift_check.yml       · PSI / KS 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9380" y="5920740"/>
            <a:ext cx="50520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Menlo"/>
              </a:rPr>
              <a:t>retrain.yml           · challenger → promote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4027932"/>
            <a:ext cx="55092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04 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Demo flow: Streamlit · FastAPI · MLflow · GitHub Actions  (~3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COST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End-to-end MLOps stack for about $0.55 per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DAILY COST BREAKDOWN (AWS ap-southeast-1)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943600" cy="4114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USD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019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EC2 t3.micro (24 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5915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alibri"/>
              </a:rPr>
              <a:t>$0.24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5915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Host FastAPI + Streamlit + MLflow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943600" cy="5029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620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S3 storage (~1 GB)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6207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alibri"/>
              </a:rPr>
              <a:t>$0.03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6207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raw/processed/models tiers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649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S3 requests + egress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6499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alibri"/>
              </a:rPr>
              <a:t>$0.05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3649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Daily inference pulls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5943600" cy="5029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6791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GitHub Actions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6791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alibri"/>
              </a:rPr>
              <a:t>$0.18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6791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4 workflows, mostly cached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NASA FIRMS + Open-Meteo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70832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alibri"/>
              </a:rPr>
              <a:t>$0.00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37083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Free tiers, MAP_KEY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5943600" cy="5943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9194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9204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$0.55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937760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~$16.50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SCALABILITY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8288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75120" y="18288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1920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SPOT INSTANCE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2128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EC2 spot can cut compute by ~70 % for retrain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7432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75120" y="27432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834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LAMBDA 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1272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Move /predict to Lambda when QPS &gt; 10 k/day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6576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75120" y="36576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37490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SCHEDULED SHUTDOWN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0416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Only run MLflow UI on demand (dev credentials)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45720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75120" y="45720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46634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alibri"/>
              </a:rPr>
              <a:t>MULTI-REGION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956048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alibri"/>
              </a:rPr>
              <a:t>Replicate to BKK region for sub-50 ms p99 latency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Pricing: AWS ap-southeast-1, on-demand, April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Integration over novelty — a production-shaped PM2.5 forecaster for Chiang Mai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119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Forecast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1190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LightGBM champion: MAE 5.12 / 6.77 / 8.25 µg/m³ at t+1 / t+3 / t+7 on 2-year chronological test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07738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6338" y="182880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148840"/>
            <a:ext cx="3119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Alert system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2743200"/>
            <a:ext cx="31190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Scenario-C tuned thresholds give F1 0.88 (t+1) — operationally usable. FIRMS fire features contribute 4–7 % of MAE.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8276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1828800"/>
            <a:ext cx="357621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2148840"/>
            <a:ext cx="311901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MLOps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2743200"/>
            <a:ext cx="311901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alibri"/>
              </a:rPr>
              <a:t>Daily pipeline + PSI/KS drift + champion/challenger promotion — all in CI for ~$0.55 /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alibri"/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Sub-daily ingest — swap PCD Excel for hourly stations (lower t+1 MAE further)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Spatial extension — multi-station grid for provincial alert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alibri"/>
              </a:rPr>
              <a:t>Probabilistic forecasts — quantile regression to expose uncertainty to the alert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THANK YOU  ·  QUESTIONS?  ·  github.com/gossbu666/MLOPS_CAAS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