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999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Intro: CAAS forecasts PM2.5 at 3 horizons and auto-alerts.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Problem: recurring health crisis, no forecasting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objectives: forecast / alert / MLOps. Integration over novelty.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Champion selection: LightGBM beats XGBoost at all horizons, beats LSTM except t+7 R².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2926080"/>
            <a:ext cx="548640" cy="45720"/>
          </a:xfrm>
          <a:prstGeom prst="rect">
            <a:avLst/>
          </a:prstGeom>
          <a:solidFill>
            <a:srgbClr val="E8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CAPSTONE  ·  AT82.9002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38404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Calibri"/>
              </a:rPr>
              <a:t>CAAS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3840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ChiangMai Air</a:t>
            </a:r>
          </a:p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Quality Alert</a:t>
            </a:r>
          </a:p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PM2.5 forecasting at t+1 / t+3 / t+7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April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9144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PRESENTED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371600"/>
            <a:ext cx="6400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Supanut Kompayak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1874519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Calibri"/>
              </a:rPr>
              <a:t>st126055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514600"/>
            <a:ext cx="6400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Shuvam Shrestha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0175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Calibri"/>
              </a:rPr>
              <a:t>st125975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3931920"/>
            <a:ext cx="5943600" cy="36576"/>
          </a:xfrm>
          <a:prstGeom prst="rect">
            <a:avLst/>
          </a:prstGeom>
          <a:solidFill>
            <a:srgbClr val="D5D5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0" y="420624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COURSE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4526280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A1A1A"/>
                </a:solidFill>
                <a:latin typeface="Calibri"/>
              </a:rPr>
              <a:t>AT82.9002  Data Engineering and MLOps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98348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Asian Institute of Technology  ·  2026 cohort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603504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ADVISORS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635508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Prof. Chaklam Silpasuwanchai  ·  Prof. Chantri Polprasert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Chiang Mai's PM2.5 crisis — an annual public-health emergency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Every dry season (Feb–Apr), Chiang Mai's air exceeds WHO safe limits by order of magnitude.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PEAK POLLUTION (2024 dry season)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14600"/>
            <a:ext cx="50292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800" b="1" i="0">
                <a:solidFill>
                  <a:srgbClr val="0F52BA"/>
                </a:solidFill>
                <a:latin typeface="Calibri"/>
              </a:rPr>
              <a:t>241 µg/m³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PM2.5 — that's 16× the WHO 24-hour limit (15 µg/m³).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074920"/>
            <a:ext cx="50292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IMPACT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4754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222E3C"/>
                </a:solidFill>
                <a:latin typeface="Calibri"/>
              </a:rPr>
              <a:t>1.2 M residents in the Chiang Mai metro area</a:t>
            </a:r>
          </a:p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222E3C"/>
                </a:solidFill>
                <a:latin typeface="Calibri"/>
              </a:rPr>
              <a:t>+12 % all-cause mortality on high-PM days (Thai PCD, 2023)</a:t>
            </a:r>
          </a:p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222E3C"/>
                </a:solidFill>
                <a:latin typeface="Calibri"/>
              </a:rPr>
              <a:t>Existing air4thai.pcd.go.th publishes current levels only — no forecast</a:t>
            </a:r>
          </a:p>
        </p:txBody>
      </p:sp>
      <p:pic>
        <p:nvPicPr>
          <p:cNvPr id="13" name="Picture 12" descr="fig_haze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463040"/>
            <a:ext cx="5852160" cy="4937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Source: Thai Pollution Control Dept. · WHO AQ guidelines 2021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Forecast, alert, operate — end-to-end, not just 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3576218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3576218" cy="13716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02757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B900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027578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302757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222E3C"/>
                </a:solidFill>
                <a:latin typeface="Calibri"/>
              </a:rPr>
              <a:t>Predict daily PM2.5 at t+1, t+3, t+7 days over Chiang Mai with leakage-free chronological validation.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7738" y="1828800"/>
            <a:ext cx="3576218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07738" y="1828800"/>
            <a:ext cx="3576218" cy="13716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82058" y="2194560"/>
            <a:ext cx="302757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B900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2058" y="2514600"/>
            <a:ext cx="3027578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Alert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2058" y="3520440"/>
            <a:ext cx="302757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222E3C"/>
                </a:solidFill>
                <a:latin typeface="Calibri"/>
              </a:rPr>
              <a:t>Classify whether each horizon will exceed 50 µg/m³ (Thai PCD alert band) with operationally useful precision/recall.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8276" y="1828800"/>
            <a:ext cx="3576218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58276" y="1828800"/>
            <a:ext cx="3576218" cy="13716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32596" y="2194560"/>
            <a:ext cx="302757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B900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2514600"/>
            <a:ext cx="3027578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MLOps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520440"/>
            <a:ext cx="302757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222E3C"/>
                </a:solidFill>
                <a:latin typeface="Calibri"/>
              </a:rPr>
              <a:t>Deploy the whole stack — ingest, train, serve, monitor — with automated drift detection and champion/challenger promotion.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1">
                <a:solidFill>
                  <a:srgbClr val="6B6B6B"/>
                </a:solidFill>
                <a:latin typeface="Calibri"/>
              </a:rPr>
              <a:t>Differentiator — multi-horizon forecast + fire-feature ablation + production MLOps on a low-budget EC2 footprint.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One ingest path, one feature store, one serving plane</a:t>
            </a:r>
          </a:p>
        </p:txBody>
      </p:sp>
      <p:pic>
        <p:nvPicPr>
          <p:cNvPr id="6" name="Picture 5" descr="fig_cloud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13232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46304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LAYERS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1828800"/>
            <a:ext cx="3840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863840" y="1828800"/>
            <a:ext cx="109728" cy="86868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38160" y="192024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INGEST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19456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222E3C"/>
                </a:solidFill>
                <a:latin typeface="Calibri"/>
              </a:rPr>
              <a:t>3 sources → S3 raw/ (PCD Excel, Open-Meteo, NASA FIRMS)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761488"/>
            <a:ext cx="3840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63840" y="2761488"/>
            <a:ext cx="109728" cy="86868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2852928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TRANSFORM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127248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222E3C"/>
                </a:solidFill>
                <a:latin typeface="Calibri"/>
              </a:rPr>
              <a:t>build_features.py → 45 chronological-safe 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3694176"/>
            <a:ext cx="3840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63840" y="3694176"/>
            <a:ext cx="109728" cy="86868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38160" y="3785616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TRAIN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059936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222E3C"/>
                </a:solidFill>
                <a:latin typeface="Calibri"/>
              </a:rPr>
              <a:t>XGBoost + LightGBM + LSTM, tracked in MLflow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0" y="4626864"/>
            <a:ext cx="3840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863840" y="4626864"/>
            <a:ext cx="109728" cy="86868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38160" y="4718304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SERVE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992624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222E3C"/>
                </a:solidFill>
                <a:latin typeface="Calibri"/>
              </a:rPr>
              <a:t>FastAPI /predict + Streamlit dashboard on EC2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0" y="5559552"/>
            <a:ext cx="3840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863840" y="5559552"/>
            <a:ext cx="109728" cy="86868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38160" y="5650992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MONITOR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5925312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222E3C"/>
                </a:solidFill>
                <a:latin typeface="Calibri"/>
              </a:rPr>
              <a:t>Evidently PSI/KS drift + auto-retrain trigger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Infra: AWS S3 + EC2 t3.micro + Terraform IaC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Three heterogeneous sources → one 45-feature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Daily cron pulls fresh data; build_features.py produces the training-identical feature vector for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3576218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3576218" cy="45720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311901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01  INGEST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06040"/>
            <a:ext cx="3119018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222E3C"/>
                </a:solidFill>
                <a:latin typeface="Calibri"/>
              </a:rPr>
              <a:t>Thai PCD PM2.5 — Excel archives (2011 → now)</a:t>
            </a:r>
          </a:p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222E3C"/>
                </a:solidFill>
                <a:latin typeface="Calibri"/>
              </a:rPr>
              <a:t>Open-Meteo — hourly weather JSON API</a:t>
            </a:r>
          </a:p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222E3C"/>
                </a:solidFill>
                <a:latin typeface="Calibri"/>
              </a:rPr>
              <a:t>NASA FIRMS — daily fire hotspots (MAP_KEY)</a:t>
            </a:r>
          </a:p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222E3C"/>
                </a:solidFill>
                <a:latin typeface="Calibri"/>
              </a:rPr>
              <a:t>S3 tiered: raw/ → processed/ → models/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7738" y="1920240"/>
            <a:ext cx="3576218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07738" y="1920240"/>
            <a:ext cx="3576218" cy="45720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338" y="2011680"/>
            <a:ext cx="311901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02  TRANSFORM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338" y="2606040"/>
            <a:ext cx="3119018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222E3C"/>
                </a:solidFill>
                <a:latin typeface="Calibri"/>
              </a:rPr>
              <a:t>build_features.py — single source of truth</a:t>
            </a:r>
          </a:p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222E3C"/>
                </a:solidFill>
                <a:latin typeface="Calibri"/>
              </a:rPr>
              <a:t>Lag features: pm25_lag{1,3,7}</a:t>
            </a:r>
          </a:p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222E3C"/>
                </a:solidFill>
                <a:latin typeface="Calibri"/>
              </a:rPr>
              <a:t>Rolling windows: 3d / 7d / 14d aggregates</a:t>
            </a:r>
          </a:p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222E3C"/>
                </a:solidFill>
                <a:latin typeface="Calibri"/>
              </a:rPr>
              <a:t>Burn-load: firms_24h_count, brightness_max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8276" y="1920240"/>
            <a:ext cx="3576218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58276" y="1920240"/>
            <a:ext cx="3576218" cy="45720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86876" y="2011680"/>
            <a:ext cx="311901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03  SERVE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6876" y="2606040"/>
            <a:ext cx="3119018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222E3C"/>
                </a:solidFill>
                <a:latin typeface="Calibri"/>
              </a:rPr>
              <a:t>features.csv (45 cols) → XGBoost / LightGBM / LSTM</a:t>
            </a:r>
          </a:p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222E3C"/>
                </a:solidFill>
                <a:latin typeface="Calibri"/>
              </a:rPr>
              <a:t>FastAPI /predict returns t+1/3/7 in one call</a:t>
            </a:r>
          </a:p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222E3C"/>
                </a:solidFill>
                <a:latin typeface="Calibri"/>
              </a:rPr>
              <a:t>Alert decision via Scenario C PR thresholds</a:t>
            </a:r>
          </a:p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222E3C"/>
                </a:solidFill>
                <a:latin typeface="Calibri"/>
              </a:rPr>
              <a:t>Champion auto-promoted on ≥5 % MAE improvement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Features: 03_Data/processed/features.csv  ·  build script: 04_Scripts/build_features.py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Signal shifts from autocorrelation to weather as horizon grows</a:t>
            </a:r>
          </a:p>
        </p:txBody>
      </p:sp>
      <p:pic>
        <p:nvPicPr>
          <p:cNvPr id="6" name="Picture 5" descr="fig_shap_summary_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46304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DOMINANT DRIVERS BY HORIZON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828800"/>
            <a:ext cx="43891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43800" y="1938528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T+1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267712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2E3C"/>
                </a:solidFill>
                <a:latin typeface="Calibri"/>
              </a:rPr>
              <a:t>pm25_lag1, pm25_roll3_mean — same-day autocorrelation.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926080"/>
            <a:ext cx="43891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43800" y="3035808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T+3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364992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2E3C"/>
                </a:solidFill>
                <a:latin typeface="Calibri"/>
              </a:rPr>
              <a:t>firms_24h_count, brightness_max — burn-load climbs into top 5.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4023360"/>
            <a:ext cx="43891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43800" y="4133088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T+7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4462272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2E3C"/>
                </a:solidFill>
                <a:latin typeface="Calibri"/>
              </a:rPr>
              <a:t>wind_speed_7d, temperature_7d — atmospheric regime dominates.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577840"/>
            <a:ext cx="43891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alibri"/>
              </a:rPr>
              <a:t>Mirrors atmospheric physics — PM2.5 transport and boundary-layer evolution.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SHAP values: 03_Data/results/shap_summary.json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MODELS COMPARED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LightGBM is champion — lower MAE than XGBoost and LSTM at every horizon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5303520" cy="3840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73352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CHAMPION · LIGHTGBM (45 features)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645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212848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B6B6B"/>
                </a:solidFill>
                <a:latin typeface="Calibri"/>
              </a:rPr>
              <a:t>MAE t+1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59736"/>
            <a:ext cx="13716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0F52BA"/>
                </a:solidFill>
                <a:latin typeface="Calibri"/>
              </a:rPr>
              <a:t>5.12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1868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Alert F1 0.852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2075688"/>
            <a:ext cx="1645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23160" y="2212848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B6B6B"/>
                </a:solidFill>
                <a:latin typeface="Calibri"/>
              </a:rPr>
              <a:t>MAE t+3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2459736"/>
            <a:ext cx="13716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0F52BA"/>
                </a:solidFill>
                <a:latin typeface="Calibri"/>
              </a:rPr>
              <a:t>6.77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321868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Alert F1 0.747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2075688"/>
            <a:ext cx="1645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60520" y="2212848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B6B6B"/>
                </a:solidFill>
                <a:latin typeface="Calibri"/>
              </a:rPr>
              <a:t>MAE t+7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459736"/>
            <a:ext cx="13716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0F52BA"/>
                </a:solidFill>
                <a:latin typeface="Calibri"/>
              </a:rPr>
              <a:t>8.25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321868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Alert F1 0.713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721608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WHY LIGHTGBM WON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41648"/>
            <a:ext cx="530352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222E3C"/>
                </a:solidFill>
                <a:latin typeface="Calibri"/>
              </a:rPr>
              <a:t>Lower MAE at every horizon (5.12 vs XGBoost 5.31 at t+1)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222E3C"/>
                </a:solidFill>
                <a:latin typeface="Calibri"/>
              </a:rPr>
              <a:t>Best alert F1 at t+1 (0.852) — operationally usable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222E3C"/>
                </a:solidFill>
                <a:latin typeface="Calibri"/>
              </a:rPr>
              <a:t>Same 45-feature input — fair head-to-head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222E3C"/>
                </a:solidFill>
                <a:latin typeface="Calibri"/>
              </a:rPr>
              <a:t>Promoted via ≥5 % MAE gate on 2026-04-18</a:t>
            </a:r>
          </a:p>
        </p:txBody>
      </p:sp>
      <p:pic>
        <p:nvPicPr>
          <p:cNvPr id="22" name="Picture 21" descr="mae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486400" cy="350299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09360" y="50749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6B6B6B"/>
                </a:solidFill>
                <a:latin typeface="Calibri"/>
              </a:rPr>
              <a:t>Test MAE per horizon — LightGBM (champion), XGBoost, LSTM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Source: 03_Data/results/{lightgbm,xgboost,lstm}_summary.json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FORECAST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LightGBM tracks observed PM2.5 — including the 2024 dry-season peaks</a:t>
            </a:r>
          </a:p>
        </p:txBody>
      </p:sp>
      <p:pic>
        <p:nvPicPr>
          <p:cNvPr id="6" name="Picture 5" descr="lgb_actual_vs_predi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841248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146304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TEST-SET METRICS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0" y="1828800"/>
            <a:ext cx="256032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0" y="192024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B6B6B"/>
                </a:solidFill>
                <a:latin typeface="Calibri"/>
              </a:rPr>
              <a:t>R²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21945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52BA"/>
                </a:solidFill>
                <a:latin typeface="Calibri"/>
              </a:rPr>
              <a:t>0.841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69748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at t+1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3108960"/>
            <a:ext cx="256032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326880" y="320040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B6B6B"/>
                </a:solidFill>
                <a:latin typeface="Calibri"/>
              </a:rPr>
              <a:t>RMSE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347472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52BA"/>
                </a:solidFill>
                <a:latin typeface="Calibri"/>
              </a:rPr>
              <a:t>9.00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97764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at t+1 (µg/m³)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4389120"/>
            <a:ext cx="256032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26880" y="448056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B6B6B"/>
                </a:solidFill>
                <a:latin typeface="Calibri"/>
              </a:rPr>
              <a:t>AUROC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475488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52BA"/>
                </a:solidFill>
                <a:latin typeface="Calibri"/>
              </a:rPr>
              <a:t>0.992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52578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alert · t+1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Source: 03_Data/results/lightgbm_summary.json + predictions 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ABLATION &amp; ALERT THRESHOLDS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Fire features matter — and PR-tuned thresholds sharpen the alert</a:t>
            </a:r>
          </a:p>
        </p:txBody>
      </p:sp>
      <p:pic>
        <p:nvPicPr>
          <p:cNvPr id="6" name="Picture 5" descr="fig_firms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035040" cy="34747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120640"/>
            <a:ext cx="1920240" cy="1097280"/>
          </a:xfrm>
          <a:prstGeom prst="rect">
            <a:avLst/>
          </a:prstGeom>
          <a:solidFill>
            <a:srgbClr val="E6EFFA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52120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T+1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440680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600" b="1" i="0">
                <a:solidFill>
                  <a:srgbClr val="0F52BA"/>
                </a:solidFill>
                <a:latin typeface="Calibri"/>
              </a:rPr>
              <a:t>+6.8%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98932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Calibri"/>
              </a:rPr>
              <a:t>MAE worse w/o FIRMS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120640"/>
            <a:ext cx="1920240" cy="1097280"/>
          </a:xfrm>
          <a:prstGeom prst="rect">
            <a:avLst/>
          </a:prstGeom>
          <a:solidFill>
            <a:srgbClr val="E6EFFA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06040" y="52120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T+3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5440680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600" b="1" i="0">
                <a:solidFill>
                  <a:srgbClr val="0F52BA"/>
                </a:solidFill>
                <a:latin typeface="Calibri"/>
              </a:rPr>
              <a:t>+5.1%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598932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Calibri"/>
              </a:rPr>
              <a:t>MAE worse w/o FIRMS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5120640"/>
            <a:ext cx="1920240" cy="1097280"/>
          </a:xfrm>
          <a:prstGeom prst="rect">
            <a:avLst/>
          </a:prstGeom>
          <a:solidFill>
            <a:srgbClr val="E6EFFA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17720" y="5212080"/>
            <a:ext cx="1920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T+7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5440680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600" b="1" i="0">
                <a:solidFill>
                  <a:srgbClr val="0F52BA"/>
                </a:solidFill>
                <a:latin typeface="Calibri"/>
              </a:rPr>
              <a:t>+4.3%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598932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Calibri"/>
              </a:rPr>
              <a:t>MAE worse w/o FIRMS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146304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SCENARIO C  ·  PR-TUNED ALERT THRESHOLDS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Default 50 µg/m³ band tuned per horizon for F1-optimal precision/recall.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286000"/>
            <a:ext cx="155448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95160" y="2423160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B6B6B"/>
                </a:solidFill>
                <a:latin typeface="Calibri"/>
              </a:rPr>
              <a:t>t+1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2697480"/>
            <a:ext cx="12801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200" b="1" i="0">
                <a:solidFill>
                  <a:srgbClr val="0F52BA"/>
                </a:solidFill>
                <a:latin typeface="Calibri"/>
              </a:rPr>
              <a:t>53.7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342900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Calibri"/>
              </a:rPr>
              <a:t>µg/m³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370332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E8B57"/>
                </a:solidFill>
                <a:latin typeface="Calibri"/>
              </a:rPr>
              <a:t>+4.0 % F1 gain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03920" y="2286000"/>
            <a:ext cx="155448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41080" y="2423160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B6B6B"/>
                </a:solidFill>
                <a:latin typeface="Calibri"/>
              </a:rPr>
              <a:t>t+3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2697480"/>
            <a:ext cx="12801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200" b="1" i="0">
                <a:solidFill>
                  <a:srgbClr val="0F52BA"/>
                </a:solidFill>
                <a:latin typeface="Calibri"/>
              </a:rPr>
              <a:t>51.0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342900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Calibri"/>
              </a:rPr>
              <a:t>µg/m³ threshold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370332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E8B57"/>
                </a:solidFill>
                <a:latin typeface="Calibri"/>
              </a:rPr>
              <a:t>+0.2 % F1 gain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49840" y="2286000"/>
            <a:ext cx="155448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287000" y="2423160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B6B6B"/>
                </a:solidFill>
                <a:latin typeface="Calibri"/>
              </a:rPr>
              <a:t>t+7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2697480"/>
            <a:ext cx="12801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200" b="1" i="0">
                <a:solidFill>
                  <a:srgbClr val="0F52BA"/>
                </a:solidFill>
                <a:latin typeface="Calibri"/>
              </a:rPr>
              <a:t>45.8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342900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i="0">
                <a:solidFill>
                  <a:srgbClr val="6B6B6B"/>
                </a:solidFill>
                <a:latin typeface="Calibri"/>
              </a:rPr>
              <a:t>µg/m³ threshold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370332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E8B57"/>
                </a:solidFill>
                <a:latin typeface="Calibri"/>
              </a:rPr>
              <a:t>+1.1 % F1 gain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0" y="4572000"/>
            <a:ext cx="4846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040880" y="470916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TAKEAWAYS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5029200"/>
            <a:ext cx="44805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222E3C"/>
                </a:solidFill>
                <a:latin typeface="Calibri"/>
              </a:rPr>
              <a:t>Removing FIRMS degrades MAE by 4.3 – 6.8 % — fires are signal, not noise</a:t>
            </a:r>
          </a:p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222E3C"/>
                </a:solidFill>
                <a:latin typeface="Calibri"/>
              </a:rPr>
              <a:t>PR-tuned thresholds lift F1 up to 4.0 points at t+1</a:t>
            </a:r>
          </a:p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000" b="0" i="0">
                <a:solidFill>
                  <a:srgbClr val="222E3C"/>
                </a:solidFill>
                <a:latin typeface="Calibri"/>
              </a:rPr>
              <a:t>Lower threshold at t+7 (45.8) captures early-warning regime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Source: ablation_summary.json · scenario_c_summary.json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MLOPS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Daily pipeline + retrain loop — zero-touch when drift stays below policy</a:t>
            </a:r>
          </a:p>
        </p:txBody>
      </p:sp>
      <p:pic>
        <p:nvPicPr>
          <p:cNvPr id="6" name="Picture 5" descr="fig_daily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772400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46304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GITHUB ACTIONS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0" y="1828800"/>
            <a:ext cx="3200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503920" y="1828800"/>
            <a:ext cx="91440" cy="86868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0" y="1938528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test.yml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24028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222E3C"/>
                </a:solidFill>
                <a:latin typeface="Calibri"/>
              </a:rPr>
              <a:t>pytest · 45 tests · on every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761488"/>
            <a:ext cx="3200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503920" y="2761488"/>
            <a:ext cx="91440" cy="86868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778240" y="2871216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daily_pipeline.yml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3172968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222E3C"/>
                </a:solidFill>
                <a:latin typeface="Calibri"/>
              </a:rPr>
              <a:t>every 3 h — ingest → predict → upload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3694176"/>
            <a:ext cx="3200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503920" y="3694176"/>
            <a:ext cx="91440" cy="86868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78240" y="3803904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drift_check.yml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4105656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222E3C"/>
                </a:solidFill>
                <a:latin typeface="Calibri"/>
              </a:rPr>
              <a:t>PSI + KS on rolling 30-day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4626864"/>
            <a:ext cx="3200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503920" y="4626864"/>
            <a:ext cx="91440" cy="86868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0" y="4736592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retrain.yml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503834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222E3C"/>
                </a:solidFill>
                <a:latin typeface="Calibri"/>
              </a:rPr>
              <a:t>triggered when core_drift ≥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0" y="5623560"/>
            <a:ext cx="3200400" cy="685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0" y="576072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🛑  validate_candidate.py blocks promotion</a:t>
            </a:r>
          </a:p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if challenger fails ≥5 % MAE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Workflows: .github/workflows/  ·  MLflow tracking: mlruns/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MONITORING &amp; DRIFT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Seasonal-aware drift monitor — today's run flagged 2 core + 2 soft drifts</a:t>
            </a:r>
          </a:p>
        </p:txBody>
      </p:sp>
      <p:pic>
        <p:nvPicPr>
          <p:cNvPr id="6" name="Picture 5" descr="fig_drift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48463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0" y="1463040"/>
            <a:ext cx="4389120" cy="86868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0" y="155448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LATEST RUN · 2026-04-21 17:45 +07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0" y="1828800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retrain_needed = True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2514600"/>
            <a:ext cx="14020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06640" y="2606040"/>
            <a:ext cx="140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i="0">
                <a:solidFill>
                  <a:srgbClr val="6B6B6B"/>
                </a:solidFill>
                <a:latin typeface="Calibri"/>
              </a:rPr>
              <a:t>CORE DRIFTS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834640"/>
            <a:ext cx="1219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600" b="1" i="0">
                <a:solidFill>
                  <a:srgbClr val="C0392B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08720" y="2514600"/>
            <a:ext cx="14020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00160" y="2606040"/>
            <a:ext cx="140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i="0">
                <a:solidFill>
                  <a:srgbClr val="6B6B6B"/>
                </a:solidFill>
                <a:latin typeface="Calibri"/>
              </a:rPr>
              <a:t>SOFT DRIFTS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0160" y="2834640"/>
            <a:ext cx="1219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600" b="1" i="0">
                <a:solidFill>
                  <a:srgbClr val="E67E22"/>
                </a:solidFill>
                <a:latin typeface="Calibri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02240" y="2514600"/>
            <a:ext cx="14020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393680" y="2606040"/>
            <a:ext cx="140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i="0">
                <a:solidFill>
                  <a:srgbClr val="6B6B6B"/>
                </a:solidFill>
                <a:latin typeface="Calibri"/>
              </a:rPr>
              <a:t>MAE FLAG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93680" y="2834640"/>
            <a:ext cx="1219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600" b="1" i="0">
                <a:solidFill>
                  <a:srgbClr val="2E8B57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749039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DRIFTED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1148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222E3C"/>
                </a:solidFill>
                <a:latin typeface="Calibri"/>
              </a:rPr>
              <a:t>pm25_lag1, pm25_roll7_mean  (core)</a:t>
            </a:r>
          </a:p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222E3C"/>
                </a:solidFill>
                <a:latin typeface="Calibri"/>
              </a:rPr>
              <a:t>hotspot_50km, wind_speed  (soft)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5303520"/>
            <a:ext cx="4389120" cy="1188720"/>
          </a:xfrm>
          <a:prstGeom prst="rect">
            <a:avLst/>
          </a:prstGeom>
          <a:solidFill>
            <a:srgbClr val="E6EFFA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98080" y="5394960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RETRAIN POLICY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5669280"/>
            <a:ext cx="402336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222E3C"/>
                </a:solidFill>
                <a:latin typeface="Calibri"/>
              </a:rPr>
              <a:t>Trigger when core≥2  OR  (core≥1 AND soft≥2).  is_haze_season is a non-trigger feature — seasonal variation is expected, not drift.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Policy: 05_Reference/monitoring_drift_policy_update_2026-04-03.md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From commit to forecast — every stage is observable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509260" cy="22631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ig_streamli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20"/>
            <a:ext cx="5326380" cy="16687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1536192"/>
            <a:ext cx="55092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01  STREAMLIT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5060" y="1463040"/>
            <a:ext cx="5509260" cy="22631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86500" y="1874520"/>
            <a:ext cx="5326380" cy="166878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3660" y="1984248"/>
            <a:ext cx="5052060" cy="14859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Menlo"/>
              </a:rPr>
              <a:t>$ curl -X POST 13.250.17.6:8000/predict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Menlo"/>
              </a:rPr>
              <a:t>      -d '{"date":"2026-04-22"}'</a:t>
            </a:r>
          </a:p>
          <a:p>
            <a:pPr algn="l"/>
            <a:endParaRPr sz="1000" b="0" i="0">
              <a:solidFill>
                <a:srgbClr val="FFFFFF"/>
              </a:solidFill>
              <a:latin typeface="Menlo"/>
            </a:endParaRPr>
          </a:p>
          <a:p>
            <a:pPr algn="l"/>
            <a:r>
              <a:rPr sz="1000" b="0" i="0">
                <a:solidFill>
                  <a:srgbClr val="FFFFFF"/>
                </a:solidFill>
                <a:latin typeface="Menlo"/>
              </a:rPr>
              <a:t>{ "t+1": 42.1,   "alert_t1": false,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Menlo"/>
              </a:rPr>
              <a:t>  "t+3": 58.4,   "alert_t3": true,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Menlo"/>
              </a:rPr>
              <a:t>  "t+7": 71.2,   "alert_t7": true,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Menlo"/>
              </a:rPr>
              <a:t>  "model": "lightgbm", "version": "v3"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2220" y="1536192"/>
            <a:ext cx="55092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02  FASTAPI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954780"/>
            <a:ext cx="5509260" cy="22631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fig_mlflow_ru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66260"/>
            <a:ext cx="5326380" cy="16687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" y="4027932"/>
            <a:ext cx="55092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03  MLFLOW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5060" y="3954780"/>
            <a:ext cx="5509260" cy="226314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69380" y="4549140"/>
            <a:ext cx="50520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Menlo"/>
              </a:rPr>
              <a:t>test.yml              · pytest 45/45 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9380" y="5006340"/>
            <a:ext cx="50520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Menlo"/>
              </a:rPr>
              <a:t>daily_pipeline.yml    · ingest + predict + upload 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9380" y="5463540"/>
            <a:ext cx="50520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Menlo"/>
              </a:rPr>
              <a:t>drift_check.yml       · PSI / KS 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9380" y="5920740"/>
            <a:ext cx="50520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Menlo"/>
              </a:rPr>
              <a:t>retrain.yml           · challenger → promote  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2220" y="4027932"/>
            <a:ext cx="55092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04  ACTIONS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Demo flow: Streamlit · FastAPI · MLflow · GitHub Actions  (~3 min)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COST &amp; SCALABILITY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End-to-end MLOps stack for about $0.55 per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943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DAILY COST BREAKDOWN (AWS ap-southeast-1)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5943600" cy="4114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90195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COMPONENT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019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USD /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901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NOTES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359152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2E3C"/>
                </a:solidFill>
                <a:latin typeface="Calibri"/>
              </a:rPr>
              <a:t>EC2 t3.micro (24 h)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359152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F52BA"/>
                </a:solidFill>
                <a:latin typeface="Calibri"/>
              </a:rPr>
              <a:t>$0.24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359152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Host FastAPI + Streamlit + MLflow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5943600" cy="502920"/>
          </a:xfrm>
          <a:prstGeom prst="rect">
            <a:avLst/>
          </a:prstGeom>
          <a:solidFill>
            <a:srgbClr val="E6EFFA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2862072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2E3C"/>
                </a:solidFill>
                <a:latin typeface="Calibri"/>
              </a:rPr>
              <a:t>S3 storage (~1 GB)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862072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F52BA"/>
                </a:solidFill>
                <a:latin typeface="Calibri"/>
              </a:rPr>
              <a:t>$0.03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862072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raw/processed/models tiers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46120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3364992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2E3C"/>
                </a:solidFill>
                <a:latin typeface="Calibri"/>
              </a:rPr>
              <a:t>S3 requests + egress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3364992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F52BA"/>
                </a:solidFill>
                <a:latin typeface="Calibri"/>
              </a:rPr>
              <a:t>$0.05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364992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Daily inference pulls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749040"/>
            <a:ext cx="5943600" cy="502920"/>
          </a:xfrm>
          <a:prstGeom prst="rect">
            <a:avLst/>
          </a:prstGeom>
          <a:solidFill>
            <a:srgbClr val="E6EFFA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867912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2E3C"/>
                </a:solidFill>
                <a:latin typeface="Calibri"/>
              </a:rPr>
              <a:t>GitHub Actions minutes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3867912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F52BA"/>
                </a:solidFill>
                <a:latin typeface="Calibri"/>
              </a:rPr>
              <a:t>$0.18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3867912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4 workflows, mostly cached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51960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" y="4370832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2E3C"/>
                </a:solidFill>
                <a:latin typeface="Calibri"/>
              </a:rPr>
              <a:t>NASA FIRMS + Open-Meteo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4370832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F52BA"/>
                </a:solidFill>
                <a:latin typeface="Calibri"/>
              </a:rPr>
              <a:t>$0.00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4370832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Free tiers, MAP_KEY only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754880"/>
            <a:ext cx="5943600" cy="59436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" y="491947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89204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  <a:latin typeface="Calibri"/>
              </a:rPr>
              <a:t>$0.55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493776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~$16.50 / month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146304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SCALABILITY PATH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0" y="1828800"/>
            <a:ext cx="50292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675120" y="1828800"/>
            <a:ext cx="91440" cy="82296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49440" y="192024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SPOT INSTANCE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2212848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222E3C"/>
                </a:solidFill>
                <a:latin typeface="Calibri"/>
              </a:rPr>
              <a:t>EC2 spot can cut compute by ~70 % for retrain only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0" y="2743200"/>
            <a:ext cx="50292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675120" y="2743200"/>
            <a:ext cx="91440" cy="82296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949440" y="283464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LAMBDA INFERENCE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127248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222E3C"/>
                </a:solidFill>
                <a:latin typeface="Calibri"/>
              </a:rPr>
              <a:t>Move /predict to Lambda when QPS &gt; 10 k/day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20" y="3657600"/>
            <a:ext cx="50292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675120" y="3657600"/>
            <a:ext cx="91440" cy="82296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49440" y="374904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SCHEDULED SHUTDOWN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0" y="4041648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222E3C"/>
                </a:solidFill>
                <a:latin typeface="Calibri"/>
              </a:rPr>
              <a:t>Only run MLflow UI on demand (dev credentials)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75120" y="4572000"/>
            <a:ext cx="502920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675120" y="4572000"/>
            <a:ext cx="91440" cy="82296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949440" y="466344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52BA"/>
                </a:solidFill>
                <a:latin typeface="Calibri"/>
              </a:rPr>
              <a:t>MULTI-REGION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49440" y="4956048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222E3C"/>
                </a:solidFill>
                <a:latin typeface="Calibri"/>
              </a:rPr>
              <a:t>Replicate to BKK region for sub-50 ms p99 latency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Pricing: AWS ap-southeast-1, on-demand, April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Integration over novelty — a production-shaped PM2.5 forecaster for Chiang Mai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3576218" cy="26517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576218" cy="109728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357621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8B900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311901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Forecast delivered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43200"/>
            <a:ext cx="3119018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2E3C"/>
                </a:solidFill>
                <a:latin typeface="Calibri"/>
              </a:rPr>
              <a:t>LightGBM champion: MAE 5.12 / 6.77 / 8.25 µg/m³ at t+1 / t+3 / t+7 on 2-year chronological test set.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7738" y="1554480"/>
            <a:ext cx="3576218" cy="26517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07738" y="1554480"/>
            <a:ext cx="3576218" cy="109728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338" y="1828800"/>
            <a:ext cx="357621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8B900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338" y="2148840"/>
            <a:ext cx="311901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Alert system deployed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6338" y="2743200"/>
            <a:ext cx="3119018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2E3C"/>
                </a:solidFill>
                <a:latin typeface="Calibri"/>
              </a:rPr>
              <a:t>Scenario-C tuned thresholds give F1 0.88 (t+1) — operationally usable. FIRMS fire features contribute 4–7 % of MAE.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8276" y="1554480"/>
            <a:ext cx="3576218" cy="2651760"/>
          </a:xfrm>
          <a:prstGeom prst="rect">
            <a:avLst/>
          </a:prstGeom>
          <a:solidFill>
            <a:srgbClr val="FFFFFF"/>
          </a:solidFill>
          <a:ln w="6350">
            <a:solidFill>
              <a:srgbClr val="D5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58276" y="1554480"/>
            <a:ext cx="3576218" cy="109728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6876" y="1828800"/>
            <a:ext cx="357621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8B900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6876" y="2148840"/>
            <a:ext cx="311901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MLOps end-to-end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6876" y="2743200"/>
            <a:ext cx="3119018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222E3C"/>
                </a:solidFill>
                <a:latin typeface="Calibri"/>
              </a:rPr>
              <a:t>Daily pipeline + PSI/KS drift + champion/challenger promotion — all in CI for ~$0.55 / day.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F52BA"/>
                </a:solidFill>
                <a:latin typeface="Calibri"/>
              </a:rPr>
              <a:t>FUTURE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92040"/>
            <a:ext cx="112471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222E3C"/>
                </a:solidFill>
                <a:latin typeface="Calibri"/>
              </a:rPr>
              <a:t>Sub-daily ingest — swap PCD Excel for hourly stations (lower t+1 MAE further)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222E3C"/>
                </a:solidFill>
                <a:latin typeface="Calibri"/>
              </a:rPr>
              <a:t>Spatial extension — multi-station grid for provincial alert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52BA"/>
                </a:solidFill>
                <a:latin typeface="Calibri"/>
              </a:rPr>
              <a:t>•  </a:t>
            </a:r>
            <a:r>
              <a:rPr sz="1200" b="0" i="0">
                <a:solidFill>
                  <a:srgbClr val="222E3C"/>
                </a:solidFill>
                <a:latin typeface="Calibri"/>
              </a:rPr>
              <a:t>Probabilistic forecasts — quantile regression to expose uncertainty to the alert layer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035040"/>
            <a:ext cx="11247120" cy="502920"/>
          </a:xfrm>
          <a:prstGeom prst="rect">
            <a:avLst/>
          </a:prstGeom>
          <a:solidFill>
            <a:srgbClr val="0F5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THANK YOU  ·  QUESTIONS?  ·  github.com/supanut-k/caas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1052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1735</Words>
  <Application>Microsoft Macintosh PowerPoint</Application>
  <PresentationFormat>Widescreen</PresentationFormat>
  <Paragraphs>261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Supanut Kompayak</cp:lastModifiedBy>
  <cp:revision>1</cp:revision>
  <dcterms:created xsi:type="dcterms:W3CDTF">2013-01-27T09:14:16Z</dcterms:created>
  <dcterms:modified xsi:type="dcterms:W3CDTF">2026-04-22T14:46:45Z</dcterms:modified>
  <cp:category/>
</cp:coreProperties>
</file>