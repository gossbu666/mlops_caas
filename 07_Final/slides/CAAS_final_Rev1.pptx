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72"/>
    <p:restoredTop sz="94657"/>
  </p:normalViewPr>
  <p:slideViewPr>
    <p:cSldViewPr snapToGrid="0" snapToObjects="1">
      <p:cViewPr varScale="1">
        <p:scale>
          <a:sx n="148" d="100"/>
          <a:sy n="148" d="100"/>
        </p:scale>
        <p:origin x="5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99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Intro: CAAS forecasts PM2.5 at 3 horizons and auto-alerts.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Problem: recurring health crisis, no forecasting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 objectives: forecast / alert / MLOps. Integration over novelty.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Champion selection: LightGBM beats XGBoost at all horizons, beats LSTM except t+7 R².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80260" y="2252879"/>
            <a:ext cx="10922379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800" b="1" i="0" dirty="0" err="1">
                <a:solidFill>
                  <a:srgbClr val="FFFFFF"/>
                </a:solidFill>
                <a:latin typeface="Century Gothic" panose="020B0502020202020204" pitchFamily="34" charset="0"/>
              </a:rPr>
              <a:t>ChiangMai</a:t>
            </a:r>
            <a:r>
              <a:rPr sz="4800" b="1" i="0" dirty="0">
                <a:solidFill>
                  <a:srgbClr val="FFFFFF"/>
                </a:solidFill>
                <a:latin typeface="Century Gothic" panose="020B0502020202020204" pitchFamily="34" charset="0"/>
              </a:rPr>
              <a:t> Air</a:t>
            </a:r>
            <a:r>
              <a:rPr lang="en-US" sz="4800" b="1" i="0" dirty="0">
                <a:solidFill>
                  <a:srgbClr val="FFFFFF"/>
                </a:solidFill>
                <a:latin typeface="Century Gothic" panose="020B0502020202020204" pitchFamily="34" charset="0"/>
              </a:rPr>
              <a:t> </a:t>
            </a:r>
            <a:r>
              <a:rPr sz="4800" b="1" i="0" dirty="0">
                <a:solidFill>
                  <a:srgbClr val="FFFFFF"/>
                </a:solidFill>
                <a:latin typeface="Century Gothic" panose="020B0502020202020204" pitchFamily="34" charset="0"/>
              </a:rPr>
              <a:t>Quality Alert</a:t>
            </a:r>
            <a:r>
              <a:rPr lang="en-US" sz="4800" b="1" i="0" dirty="0">
                <a:solidFill>
                  <a:srgbClr val="FFFFFF"/>
                </a:solidFill>
                <a:latin typeface="Century Gothic" panose="020B0502020202020204" pitchFamily="34" charset="0"/>
              </a:rPr>
              <a:t> </a:t>
            </a:r>
            <a:r>
              <a:rPr sz="4800" b="1" i="0" dirty="0">
                <a:solidFill>
                  <a:srgbClr val="FFFFFF"/>
                </a:solidFill>
                <a:latin typeface="Century Gothic" panose="020B0502020202020204" pitchFamily="34" charset="0"/>
              </a:rPr>
              <a:t>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646639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chemeClr val="bg1"/>
                </a:solidFill>
                <a:latin typeface="Century Gothic" panose="020B0502020202020204" pitchFamily="34" charset="0"/>
              </a:rPr>
              <a:t>PRESENTED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985678"/>
            <a:ext cx="6400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entury Gothic" panose="020B0502020202020204" pitchFamily="34" charset="0"/>
              </a:rPr>
              <a:t>Supanut Kompayak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234682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chemeClr val="bg1"/>
                </a:solidFill>
                <a:latin typeface="Century Gothic" panose="020B0502020202020204" pitchFamily="34" charset="0"/>
              </a:rPr>
              <a:t>st126055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476207"/>
            <a:ext cx="64008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chemeClr val="bg1"/>
                </a:solidFill>
                <a:latin typeface="Century Gothic" panose="020B0502020202020204" pitchFamily="34" charset="0"/>
              </a:rPr>
              <a:t>Shuvam Shrestha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706541"/>
            <a:ext cx="640080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chemeClr val="bg1"/>
                </a:solidFill>
                <a:latin typeface="Century Gothic" panose="020B0502020202020204" pitchFamily="34" charset="0"/>
              </a:rPr>
              <a:t>st125975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1842035"/>
            <a:ext cx="64008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 i="0" dirty="0">
                <a:solidFill>
                  <a:schemeClr val="bg1"/>
                </a:solidFill>
                <a:latin typeface="Century Gothic" panose="020B0502020202020204" pitchFamily="34" charset="0"/>
              </a:rPr>
              <a:t>AT82.9002  Data Engineering and </a:t>
            </a:r>
            <a:r>
              <a:rPr sz="1600" b="1" i="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MLOps</a:t>
            </a:r>
            <a:endParaRPr sz="1600" b="1" i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81344" y="6581499"/>
            <a:ext cx="6400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entury Gothic" panose="020B0502020202020204" pitchFamily="34" charset="0"/>
              </a:rPr>
              <a:t>Asian Institute of Technology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260" y="5091641"/>
            <a:ext cx="6400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entury Gothic" panose="020B0502020202020204" pitchFamily="34" charset="0"/>
              </a:rPr>
              <a:t>ADVISORS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77568" y="5076252"/>
            <a:ext cx="6400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chemeClr val="bg1"/>
                </a:solidFill>
                <a:latin typeface="Century Gothic" panose="020B0502020202020204" pitchFamily="34" charset="0"/>
              </a:rPr>
              <a:t>Prof. </a:t>
            </a:r>
            <a:r>
              <a:rPr sz="1200" b="0" i="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Chantri</a:t>
            </a:r>
            <a:r>
              <a:rPr sz="1200" b="0" i="0" dirty="0">
                <a:solidFill>
                  <a:schemeClr val="bg1"/>
                </a:solidFill>
                <a:latin typeface="Century Gothic" panose="020B0502020202020204" pitchFamily="34" charset="0"/>
              </a:rPr>
              <a:t> </a:t>
            </a:r>
            <a:r>
              <a:rPr sz="1200" b="0" i="0" dirty="0" err="1">
                <a:solidFill>
                  <a:schemeClr val="bg1"/>
                </a:solidFill>
                <a:latin typeface="Century Gothic" panose="020B0502020202020204" pitchFamily="34" charset="0"/>
              </a:rPr>
              <a:t>Polprasert</a:t>
            </a:r>
            <a:endParaRPr sz="1200" b="0" i="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Chiang Mai's PM2.5 crisis — an annual public-health emergency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entury Gothic" panose="020B0502020202020204" pitchFamily="34" charset="0"/>
              </a:rPr>
              <a:t>Every dry season (Feb–Apr), Chiang Mai's air exceeds WHO safe limits by order of magnitude.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PEAK POLLUTION (2024 dry season)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5029200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0" b="1" i="0" dirty="0">
                <a:solidFill>
                  <a:srgbClr val="0F52BA"/>
                </a:solidFill>
                <a:latin typeface="Century Gothic" panose="020B0502020202020204" pitchFamily="34" charset="0"/>
              </a:rPr>
              <a:t>241 µg/m³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entury Gothic" panose="020B0502020202020204" pitchFamily="34" charset="0"/>
              </a:rPr>
              <a:t>PM2.5 — that's 16× the WHO 24-hour limit (15 µg/m³).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502920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4572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3212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1.2 M residents in the Chiang Mai metro area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+12 % all-cause mortality on high-PM days (Thai PCD, 2023)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Existing air4thai.pcd.go.th publishes current levels only — no forecast</a:t>
            </a:r>
          </a:p>
        </p:txBody>
      </p:sp>
      <p:pic>
        <p:nvPicPr>
          <p:cNvPr id="13" name="Picture 12" descr="fig_haz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463040"/>
            <a:ext cx="5852160" cy="4937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Source: Thai Pollution Control Dept. · WHO AQ guidelines 2021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Forecast, alert, operate — end-to-end, not just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0275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entury Gothic" panose="020B0502020202020204" pitchFamily="34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02757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entury Gothic" panose="020B0502020202020204" pitchFamily="34" charset="0"/>
              </a:rPr>
              <a:t>Forecast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3027578" cy="6001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entury Gothic" panose="020B0502020202020204" pitchFamily="34" charset="0"/>
              </a:rPr>
              <a:t>Predict daily PM2.5 at t+1, t+3, t+7 days over Chiang Mai with leakage-free chronological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7738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82058" y="2194560"/>
            <a:ext cx="30275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entury Gothic" panose="020B0502020202020204" pitchFamily="34" charset="0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2058" y="2514600"/>
            <a:ext cx="302757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entury Gothic" panose="020B0502020202020204" pitchFamily="34" charset="0"/>
              </a:rPr>
              <a:t>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3520440"/>
            <a:ext cx="3027578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entury Gothic" panose="020B0502020202020204" pitchFamily="34" charset="0"/>
              </a:rPr>
              <a:t>Classify whether each horizon will exceed 50 µg/m³ (Thai PCD alert band) with operationally useful precision/recall.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828800"/>
            <a:ext cx="3576218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8276" y="1828800"/>
            <a:ext cx="3576218" cy="1371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32596" y="2194560"/>
            <a:ext cx="302757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B900"/>
                </a:solidFill>
                <a:latin typeface="Century Gothic" panose="020B0502020202020204" pitchFamily="34" charset="0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596" y="2514600"/>
            <a:ext cx="3027578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Century Gothic" panose="020B0502020202020204" pitchFamily="34" charset="0"/>
              </a:rPr>
              <a:t>MLOps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520440"/>
            <a:ext cx="3027578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222E3C"/>
                </a:solidFill>
                <a:latin typeface="Century Gothic" panose="020B0502020202020204" pitchFamily="34" charset="0"/>
              </a:rPr>
              <a:t>Deploy the whole stack — ingest, train, serve, monitor — with automated drift detection and champion/challenger promotion.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9788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entury Gothic" panose="020B0502020202020204" pitchFamily="34" charset="0"/>
              </a:rPr>
              <a:t>Differentiator — multi-horizon forecast + fire-feature ablation + production MLOps on a low-budget EC2 footprint.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One ingest path, one feature store, one serving plane</a:t>
            </a:r>
          </a:p>
        </p:txBody>
      </p:sp>
      <p:pic>
        <p:nvPicPr>
          <p:cNvPr id="6" name="Picture 5" descr="fig_clou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13232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463040"/>
            <a:ext cx="38404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LAYERS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828800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63840" y="1828800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4747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194560"/>
            <a:ext cx="34747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3 sources → S3 raw/ (PCD Excel, Open-Meteo, NASA FIRMS)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61488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63840" y="2761488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38160" y="2852928"/>
            <a:ext cx="34747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127248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build_features.py → 45 chronological-safe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63840" y="3694176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863840" y="3694176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38160" y="3785616"/>
            <a:ext cx="34747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059936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XGBoost + LightGBM + LSTM, tracked in MLflow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4626864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63840" y="4626864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8160" y="4718304"/>
            <a:ext cx="34747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4992624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FastAPI /predict + Streamlit dashboard on EC2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5559552"/>
            <a:ext cx="38404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863840" y="5559552"/>
            <a:ext cx="109728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38160" y="5650992"/>
            <a:ext cx="34747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925312"/>
            <a:ext cx="34747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Evidently PSI/KS drift + auto-retrain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Infra: AWS S3 + EC2 t3.micro + Terraform IaC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Three heterogeneous sources → one 45-feature 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entury Gothic" panose="020B0502020202020204" pitchFamily="34" charset="0"/>
              </a:rPr>
              <a:t>Daily cron pulls fresh data; build_features.py produces the training-identical feature vector for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11901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Gothic" panose="020B0502020202020204" pitchFamily="34" charset="0"/>
              </a:rPr>
              <a:t>01 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3119018" cy="12311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Thai PCD PM2.5 — Excel archives (2011 → now)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Open-Meteo — hourly weather JSON API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NASA FIRMS — daily fire hotspots (MAP_KEY)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S3 tiered: raw/ → processed/ → models/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7738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6338" y="2011680"/>
            <a:ext cx="311901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Gothic" panose="020B0502020202020204" pitchFamily="34" charset="0"/>
              </a:rPr>
              <a:t>02  TRANSFORM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606040"/>
            <a:ext cx="3119018" cy="1061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build_features.py — single source of truth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Lag features: pm25_lag{1,3,7}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Rolling windows: 3d / 7d / 14d aggregates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Burn-load: firms_24h_count, brightness_max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276" y="1920240"/>
            <a:ext cx="3576218" cy="4206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58276" y="1920240"/>
            <a:ext cx="3576218" cy="45720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86876" y="2011680"/>
            <a:ext cx="3119018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Gothic" panose="020B0502020202020204" pitchFamily="34" charset="0"/>
              </a:rPr>
              <a:t>03  SERVE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6876" y="2606040"/>
            <a:ext cx="3119018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features.csv (45 cols) → XGBoost / LightGBM / LSTM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FastAPI /predict returns t+1/3/7 in one call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Alert decision via Scenario C PR thresholds</a:t>
            </a:r>
          </a:p>
          <a:p>
            <a:pPr algn="l">
              <a:spcAft>
                <a:spcPts val="10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Champion auto-promoted on ≥5 % MAE improvement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Features: 03_Data/processed/features.csv  ·  build script: 04_Scripts/build_features.py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Signal shifts from autocorrelation to weather as horizon grows</a:t>
            </a:r>
          </a:p>
        </p:txBody>
      </p:sp>
      <p:pic>
        <p:nvPicPr>
          <p:cNvPr id="6" name="Picture 5" descr="fig_shap_summary_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463040"/>
            <a:ext cx="4389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DOMINANT DRIVERS BY HORIZON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82880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43800" y="1938528"/>
            <a:ext cx="43891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T+1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267712"/>
            <a:ext cx="402336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pm25_lag1, pm25_roll3_mean — same-day autocorrelation.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92608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43800" y="3035808"/>
            <a:ext cx="43891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T+3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64992"/>
            <a:ext cx="402336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firms_24h_count, brightness_max — burn-load climbs into top 5.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4023360"/>
            <a:ext cx="438912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43800" y="4133088"/>
            <a:ext cx="43891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T+7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4462272"/>
            <a:ext cx="402336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wind_speed_7d, temperature_7d — atmospheric regime dominates.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577840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Gothic" panose="020B0502020202020204" pitchFamily="34" charset="0"/>
              </a:rPr>
              <a:t>Mirrors atmospheric physics — PM2.5 transport and boundary-layer evolution.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SHAP values: 03_Data/results/shap_summary.json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"/>
              </a:rPr>
              <a:t>MODELS COMPARED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"/>
              </a:rPr>
              <a:t>LightGBM is champion — lower MAE than XGBoost and LSTM at every 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0352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" y="1673352"/>
            <a:ext cx="530352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"/>
              </a:rPr>
              <a:t>CHAMPION · LIGHTGBM (45 features)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212848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"/>
              </a:rPr>
              <a:t>MAE t+1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59736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"/>
              </a:rPr>
              <a:t>5.12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"/>
              </a:rPr>
              <a:t>Alert F1 0.852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23160" y="2212848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"/>
              </a:rPr>
              <a:t>MAE t+3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59736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"/>
              </a:rPr>
              <a:t>6.77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21868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"/>
              </a:rPr>
              <a:t>Alert F1 0.747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160520" y="2212848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"/>
              </a:rPr>
              <a:t>MAE t+7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2459736"/>
            <a:ext cx="137160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000" b="1" i="0">
                <a:solidFill>
                  <a:srgbClr val="0F52BA"/>
                </a:solidFill>
                <a:latin typeface=""/>
              </a:rPr>
              <a:t>8.25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218688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"/>
              </a:rPr>
              <a:t>Alert F1 0.713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53035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"/>
              </a:rPr>
              <a:t>WHY LIGHTGBM WON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41648"/>
            <a:ext cx="5303520" cy="1046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"/>
              </a:rPr>
              <a:t>•  </a:t>
            </a:r>
            <a:r>
              <a:rPr sz="1200" b="0" i="0">
                <a:solidFill>
                  <a:srgbClr val="222E3C"/>
                </a:solidFill>
                <a:latin typeface=""/>
              </a:rPr>
              <a:t>Lower MAE at every horizon (5.12 vs XGBoost 5.31 at t+1)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"/>
              </a:rPr>
              <a:t>•  </a:t>
            </a:r>
            <a:r>
              <a:rPr sz="1200" b="0" i="0">
                <a:solidFill>
                  <a:srgbClr val="222E3C"/>
                </a:solidFill>
                <a:latin typeface=""/>
              </a:rPr>
              <a:t>Best alert F1 at t+1 (0.852) — operationally usable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"/>
              </a:rPr>
              <a:t>•  </a:t>
            </a:r>
            <a:r>
              <a:rPr sz="1200" b="0" i="0">
                <a:solidFill>
                  <a:srgbClr val="222E3C"/>
                </a:solidFill>
                <a:latin typeface=""/>
              </a:rPr>
              <a:t>Same 45-feature input — fair head-to-head</a:t>
            </a:r>
          </a:p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F52BA"/>
                </a:solidFill>
                <a:latin typeface=""/>
              </a:rPr>
              <a:t>•  </a:t>
            </a:r>
            <a:r>
              <a:rPr sz="1200" b="0" i="0">
                <a:solidFill>
                  <a:srgbClr val="222E3C"/>
                </a:solidFill>
                <a:latin typeface=""/>
              </a:rPr>
              <a:t>Promoted via ≥5 % MAE gate on 2026-04-18</a:t>
            </a:r>
          </a:p>
        </p:txBody>
      </p:sp>
      <p:pic>
        <p:nvPicPr>
          <p:cNvPr id="22" name="Picture 21" descr="mae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5486400" cy="350299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09360" y="5074920"/>
            <a:ext cx="5486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0">
                <a:solidFill>
                  <a:srgbClr val="6B6B6B"/>
                </a:solidFill>
                <a:latin typeface=""/>
              </a:rPr>
              <a:t>Test MAE per horizon — LightGBM (champion), XGBoost, 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"/>
              </a:rPr>
              <a:t>Source: 03_Data/results/{lightgbm,xgboost,lstm}_summary.json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FORECAST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LightGBM tracks observed PM2.5 — including the 2024 dry-season peaks</a:t>
            </a:r>
          </a:p>
        </p:txBody>
      </p:sp>
      <p:pic>
        <p:nvPicPr>
          <p:cNvPr id="6" name="Picture 5" descr="lgb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41248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0" y="1463040"/>
            <a:ext cx="25603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TEST-SET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182880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0" y="192024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R²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219456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entury Gothic" panose="020B0502020202020204" pitchFamily="34" charset="0"/>
              </a:rPr>
              <a:t>0.841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69748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at t+1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310896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26880" y="320040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347472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entury Gothic" panose="020B0502020202020204" pitchFamily="34" charset="0"/>
              </a:rPr>
              <a:t>9.00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97764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at t+1 (µg/m³)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4389120"/>
            <a:ext cx="256032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326880" y="4480560"/>
            <a:ext cx="256032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AUROC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4754880"/>
            <a:ext cx="219456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0F52BA"/>
                </a:solidFill>
                <a:latin typeface="Century Gothic" panose="020B0502020202020204" pitchFamily="34" charset="0"/>
              </a:rPr>
              <a:t>0.992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5257800"/>
            <a:ext cx="21945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alert · t+1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Source: 03_Data/results/lightgbm_summary.json + predictions CSV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ABLATION &amp; ALERT THRESHOLDS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Gothic" panose="020B0502020202020204" pitchFamily="34" charset="0"/>
              </a:rPr>
              <a:t>Fire features matter — and PR-tuned thresholds sharpen the alert</a:t>
            </a:r>
          </a:p>
        </p:txBody>
      </p:sp>
      <p:pic>
        <p:nvPicPr>
          <p:cNvPr id="6" name="Picture 5" descr="fig_firms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03504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4360" y="5212080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T+1 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44068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entury Gothic" panose="020B0502020202020204" pitchFamily="34" charset="0"/>
              </a:rPr>
              <a:t>+6.8%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89320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MAE worse w/o FIRMS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06040" y="5212080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T+3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44068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entury Gothic" panose="020B0502020202020204" pitchFamily="34" charset="0"/>
              </a:rPr>
              <a:t>+5.1%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5989320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MAE worse w/o FIRMS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5120640"/>
            <a:ext cx="1920240" cy="109728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5212080"/>
            <a:ext cx="19202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T+7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544068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600" b="1" i="0">
                <a:solidFill>
                  <a:srgbClr val="0F52BA"/>
                </a:solidFill>
                <a:latin typeface="Century Gothic" panose="020B0502020202020204" pitchFamily="34" charset="0"/>
              </a:rPr>
              <a:t>+4.3%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989320"/>
            <a:ext cx="16459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MAE worse w/o FIRMS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1463040"/>
            <a:ext cx="48463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SCENARIO C  ·  PR-TUNED ALERT THRESHOLDS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7830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Century Gothic" panose="020B0502020202020204" pitchFamily="34" charset="0"/>
              </a:rPr>
              <a:t>Default 50 µg/m³ band tuned per horizon for F1-optimal precision/recall.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95160" y="2423160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t+1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697480"/>
            <a:ext cx="12801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entury Gothic" panose="020B0502020202020204" pitchFamily="34" charset="0"/>
              </a:rPr>
              <a:t>53.7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429000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µg/m³ threshold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3703320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entury Gothic" panose="020B0502020202020204" pitchFamily="34" charset="0"/>
              </a:rPr>
              <a:t>+4.0 % F1 gain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41080" y="2423160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t+3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697480"/>
            <a:ext cx="12801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entury Gothic" panose="020B0502020202020204" pitchFamily="34" charset="0"/>
              </a:rPr>
              <a:t>51.0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429000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µg/m³ threshold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3703320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entury Gothic" panose="020B0502020202020204" pitchFamily="34" charset="0"/>
              </a:rPr>
              <a:t>+0.2 % F1 gain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2286000"/>
            <a:ext cx="1554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87000" y="2423160"/>
            <a:ext cx="15544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6B6B6B"/>
                </a:solidFill>
                <a:latin typeface="Century Gothic" panose="020B0502020202020204" pitchFamily="34" charset="0"/>
              </a:rPr>
              <a:t>t+7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2697480"/>
            <a:ext cx="12801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200" b="1" i="0">
                <a:solidFill>
                  <a:srgbClr val="0F52BA"/>
                </a:solidFill>
                <a:latin typeface="Century Gothic" panose="020B0502020202020204" pitchFamily="34" charset="0"/>
              </a:rPr>
              <a:t>45.8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3429000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µg/m³ threshold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3703320"/>
            <a:ext cx="12801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Century Gothic" panose="020B0502020202020204" pitchFamily="34" charset="0"/>
              </a:rPr>
              <a:t>+1.1 % F1 gain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4572000"/>
            <a:ext cx="48463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0880" y="4709160"/>
            <a:ext cx="48463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029200"/>
            <a:ext cx="4480560" cy="7694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Removing FIRMS degrades MAE by 4.3 – 6.8 % — fires are signal, not noise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PR-tuned thresholds lift F1 up to 4.0 points at t+1</a:t>
            </a:r>
          </a:p>
          <a:p>
            <a:pPr algn="l">
              <a:spcAft>
                <a:spcPts val="600"/>
              </a:spcAft>
            </a:pPr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Lower threshold at t+7 (45.8) captures early-warning regime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Source: ablation_summary.json · scenario_c_summary.json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MLOPS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Daily pipeline + retrain loop — zero-touch when drift stays below policy</a:t>
            </a:r>
          </a:p>
        </p:txBody>
      </p:sp>
      <p:pic>
        <p:nvPicPr>
          <p:cNvPr id="6" name="Picture 5" descr="fig_daily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772400" cy="4846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463040"/>
            <a:ext cx="32004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GITHUB ACTIONS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503920" y="1828800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0" y="1938528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test.yml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40280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pytest · 45 tests · on every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761488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03920" y="2761488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0" y="2871216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daily_pipeline.yml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172968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every 3 h — ingest → predict → upload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3694176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03920" y="3694176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78240" y="3803904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drift_check.yml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105656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PSI + KS on rolling 30-day window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4626864"/>
            <a:ext cx="3200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03920" y="4626864"/>
            <a:ext cx="91440" cy="86868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78240" y="4736592"/>
            <a:ext cx="28346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retrain.yml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038344"/>
            <a:ext cx="28346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triggered when core_drift ≥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623560"/>
            <a:ext cx="32004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5760720"/>
            <a:ext cx="29260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🛑  validate_candidate.py blocks promotion</a:t>
            </a:r>
          </a:p>
          <a:p>
            <a:pPr algn="l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if challenger fails ≥5 % MAE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Workflows: .github/workflows/  ·  MLflow tracking: mlruns/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MONITORING &amp;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Seasonal-aware drift monitor — today's run flagged 2 core + 2 soft drifts</a:t>
            </a:r>
          </a:p>
        </p:txBody>
      </p:sp>
      <p:pic>
        <p:nvPicPr>
          <p:cNvPr id="6" name="Picture 5" descr="fig_drif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583680" cy="4846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15200" y="1463040"/>
            <a:ext cx="4389120" cy="86868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498080" y="1554480"/>
            <a:ext cx="4389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LATEST RUN · 2026-04-21 17:45 +07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828800"/>
            <a:ext cx="438912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entury Gothic" panose="020B0502020202020204" pitchFamily="34" charset="0"/>
              </a:rPr>
              <a:t>retrain_needed =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0" y="2606040"/>
            <a:ext cx="1402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entury Gothic" panose="020B0502020202020204" pitchFamily="34" charset="0"/>
              </a:rPr>
              <a:t>CORE DRIFTS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834640"/>
            <a:ext cx="1219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C0392B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0872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900160" y="2606040"/>
            <a:ext cx="1402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entury Gothic" panose="020B0502020202020204" pitchFamily="34" charset="0"/>
              </a:rPr>
              <a:t>SOFT DRIFTS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0160" y="2834640"/>
            <a:ext cx="1219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E67E22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02240" y="2514600"/>
            <a:ext cx="1402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393680" y="2606040"/>
            <a:ext cx="1402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6B6B6B"/>
                </a:solidFill>
                <a:latin typeface="Century Gothic" panose="020B0502020202020204" pitchFamily="34" charset="0"/>
              </a:rPr>
              <a:t>MAE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93680" y="2834640"/>
            <a:ext cx="1219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600" b="1" i="0">
                <a:solidFill>
                  <a:srgbClr val="2E8B57"/>
                </a:solidFill>
                <a:latin typeface="Century Gothic" panose="020B0502020202020204" pitchFamily="34" charset="0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49039"/>
            <a:ext cx="4389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DRIFTED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114800"/>
            <a:ext cx="438912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pm25_lag1, pm25_roll7_mean  (core)</a:t>
            </a:r>
          </a:p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hotspot_50km, wind_speed  (soft)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5303520"/>
            <a:ext cx="4389120" cy="11887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80" y="5394960"/>
            <a:ext cx="4389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RETRAIN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5669280"/>
            <a:ext cx="402336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Trigger when core≥2  OR  (core≥1 AND soft≥2).  is_haze_season is a non-trigger feature — seasonal variation is expected, not drift.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Policy: 05_Reference/monitoring_drift_policy_update_2026-04-03.md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Gothic" panose="020B0502020202020204" pitchFamily="34" charset="0"/>
              </a:rPr>
              <a:t>From commit to forecast — every stage is observable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pic>
        <p:nvPicPr>
          <p:cNvPr id="7" name="Picture 6" descr="fig_streaml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20"/>
            <a:ext cx="5326380" cy="16687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1536192"/>
            <a:ext cx="55092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01  STREAMLIT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5060" y="146304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86500" y="1874520"/>
            <a:ext cx="5326380" cy="166878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23660" y="1984248"/>
            <a:ext cx="5052060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$ curl -X POST 13.250.17.6:8000/predict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      -d '{"date":"2026-04-22"}'</a:t>
            </a:r>
          </a:p>
          <a:p>
            <a:pPr algn="l"/>
            <a:endParaRPr sz="1000" b="0" i="0">
              <a:solidFill>
                <a:srgbClr val="FFFFFF"/>
              </a:solidFill>
              <a:latin typeface="Century Gothic" panose="020B0502020202020204" pitchFamily="34" charset="0"/>
            </a:endParaRPr>
          </a:p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{ "t+1": 42.1,   "alert_t1": false,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  "t+3": 58.4,   "alert_t3": true,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  "t+7": 71.2,   "alert_t7": true,</a:t>
            </a:r>
          </a:p>
          <a:p>
            <a:pPr algn="l"/>
            <a:r>
              <a:rPr sz="1000" b="0" i="0">
                <a:solidFill>
                  <a:srgbClr val="FFFFFF"/>
                </a:solidFill>
                <a:latin typeface="Century Gothic" panose="020B0502020202020204" pitchFamily="34" charset="0"/>
              </a:rPr>
              <a:t>  "model": "lightgbm", "version": "v3"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2220" y="1536192"/>
            <a:ext cx="55092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02  FASTAPI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5478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pic>
        <p:nvPicPr>
          <p:cNvPr id="14" name="Picture 13" descr="fig_mlflow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66260"/>
            <a:ext cx="5326380" cy="16687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360" y="4027932"/>
            <a:ext cx="55092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03  MLFLOW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954780"/>
            <a:ext cx="5509260" cy="22631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69380" y="4549140"/>
            <a:ext cx="50520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entury Gothic" panose="020B0502020202020204" pitchFamily="34" charset="0"/>
              </a:rPr>
              <a:t>test.yml              · pytest 45/45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5006340"/>
            <a:ext cx="50520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entury Gothic" panose="020B0502020202020204" pitchFamily="34" charset="0"/>
              </a:rPr>
              <a:t>daily_pipeline.yml    · ingest + predict + upload 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9380" y="5463540"/>
            <a:ext cx="50520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entury Gothic" panose="020B0502020202020204" pitchFamily="34" charset="0"/>
              </a:rPr>
              <a:t>drift_check.yml       · PSI / KS 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9380" y="5920740"/>
            <a:ext cx="50520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entury Gothic" panose="020B0502020202020204" pitchFamily="34" charset="0"/>
              </a:rPr>
              <a:t>retrain.yml           · challenger → promote  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4027932"/>
            <a:ext cx="550926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04 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Demo flow: Streamlit · FastAPI · MLflow · GitHub Actions  (~3 min)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COST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End-to-end MLOps stack for about $0.55 per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943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DAILY COST BREAKDOWN (AWS ap-southeast-1)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943600" cy="41148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901952"/>
            <a:ext cx="29260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01952"/>
            <a:ext cx="109728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USD /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01952"/>
            <a:ext cx="13716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entury Gothic" panose="020B0502020202020204" pitchFamily="34" charset="0"/>
              </a:rPr>
              <a:t>NOTES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EC2 t3.micro (24 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591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$0.24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591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Host FastAPI + Streamlit + MLflow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43200"/>
            <a:ext cx="5943600" cy="5029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2862072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S3 storage (~1 GB)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6207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$0.03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86207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raw/processed/models tiers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" y="3364992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S3 requests + egress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6499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$0.05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364992"/>
            <a:ext cx="14630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Daily inference pulls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40"/>
            <a:ext cx="5943600" cy="502920"/>
          </a:xfrm>
          <a:prstGeom prst="rect">
            <a:avLst/>
          </a:prstGeom>
          <a:solidFill>
            <a:srgbClr val="E6EFFA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3867912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GitHub Actions minutes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386791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$0.18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86791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4 workflows, mostly cached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5943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29260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NASA FIRMS + Open-Meteo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7083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$0.00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37083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entury Gothic" panose="020B0502020202020204" pitchFamily="34" charset="0"/>
              </a:rPr>
              <a:t>Free tiers, MAP_KEY only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5943600" cy="5943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" y="4919472"/>
            <a:ext cx="292608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entury Gothic" panose="020B0502020202020204" pitchFamily="34" charset="0"/>
              </a:rPr>
              <a:t>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892040"/>
            <a:ext cx="109728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entury Gothic" panose="020B0502020202020204" pitchFamily="34" charset="0"/>
              </a:rPr>
              <a:t>$0.55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937760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entury Gothic" panose="020B0502020202020204" pitchFamily="34" charset="0"/>
              </a:rPr>
              <a:t>~$16.50 / month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463040"/>
            <a:ext cx="50292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SCALABILITY PATH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8288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675120" y="18288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49440" y="1920240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SPOT INSTANCE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212848"/>
            <a:ext cx="46634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EC2 spot can cut compute by ~70 % for retrain only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27432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675120" y="27432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49440" y="2834640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LAMBDA 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127248"/>
            <a:ext cx="46634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Move /predict to Lambda when QPS &gt; 10 k/day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6576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6675120" y="36576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949440" y="3749040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SCHEDULED SHUTDOWN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4041648"/>
            <a:ext cx="46634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Only run MLflow UI on demand (dev credentials)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75120" y="4572000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675120" y="4572000"/>
            <a:ext cx="91440" cy="822960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949440" y="4663440"/>
            <a:ext cx="46634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F52BA"/>
                </a:solidFill>
                <a:latin typeface="Century Gothic" panose="020B0502020202020204" pitchFamily="34" charset="0"/>
              </a:rPr>
              <a:t>MULTI-REGION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49440" y="4956048"/>
            <a:ext cx="466344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222E3C"/>
                </a:solidFill>
                <a:latin typeface="Century Gothic" panose="020B0502020202020204" pitchFamily="34" charset="0"/>
              </a:rPr>
              <a:t>Replicate to BKK region for sub-50 ms p99 latency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10528"/>
            <a:ext cx="112471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Pricing: AWS ap-southeast-1, on-demand, April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4712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  <a:latin typeface="Century Gothic" panose="020B0502020202020204" pitchFamily="34" charset="0"/>
              </a:rPr>
              <a:t>Integration over novelty — a production-shaped PM2.5 forecaster for Chiang Mai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357621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entury Gothic" panose="020B0502020202020204" pitchFamily="34" charset="0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311901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entury Gothic" panose="020B0502020202020204" pitchFamily="34" charset="0"/>
              </a:rPr>
              <a:t>Forecast delivered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31190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LightGBM champion: MAE 5.12 / 6.77 / 8.25 µg/m³ at t+1 / t+3 / t+7 on 2-year chronological test set.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7738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07738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36338" y="1828800"/>
            <a:ext cx="357621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entury Gothic" panose="020B0502020202020204" pitchFamily="34" charset="0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338" y="2148840"/>
            <a:ext cx="311901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entury Gothic" panose="020B0502020202020204" pitchFamily="34" charset="0"/>
              </a:rPr>
              <a:t>Alert system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2743200"/>
            <a:ext cx="31190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Scenario-C tuned thresholds give F1 0.88 (t+1) — operationally usable. FIRMS fire features contribute 4–7 % of MAE.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8276" y="1554480"/>
            <a:ext cx="3576218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58276" y="1554480"/>
            <a:ext cx="3576218" cy="109728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Century Gothic" panose="020B0502020202020204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6876" y="1828800"/>
            <a:ext cx="357621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E8B900"/>
                </a:solidFill>
                <a:latin typeface="Century Gothic" panose="020B0502020202020204" pitchFamily="34" charset="0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6876" y="2148840"/>
            <a:ext cx="3119018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entury Gothic" panose="020B0502020202020204" pitchFamily="34" charset="0"/>
              </a:rPr>
              <a:t>MLOps end-to-end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6876" y="2743200"/>
            <a:ext cx="3119018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222E3C"/>
                </a:solidFill>
                <a:latin typeface="Century Gothic" panose="020B0502020202020204" pitchFamily="34" charset="0"/>
              </a:rPr>
              <a:t>Daily pipeline + PSI/KS drift + champion/challenger promotion — all in CI for ~$0.55 / 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471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F52BA"/>
                </a:solidFill>
                <a:latin typeface="Century Gothic" panose="020B0502020202020204" pitchFamily="34" charset="0"/>
              </a:rPr>
              <a:t>FUTURE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92040"/>
            <a:ext cx="1124712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entury Gothic" panose="020B0502020202020204" pitchFamily="34" charset="0"/>
              </a:rPr>
              <a:t>Sub-daily ingest — swap PCD Excel for hourly stations (lower t+1 MAE further)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entury Gothic" panose="020B0502020202020204" pitchFamily="34" charset="0"/>
              </a:rPr>
              <a:t>Spatial extension — multi-station grid for provincial alert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0F52BA"/>
                </a:solidFill>
                <a:latin typeface="Century Gothic" panose="020B0502020202020204" pitchFamily="34" charset="0"/>
              </a:rPr>
              <a:t>•  </a:t>
            </a:r>
            <a:r>
              <a:rPr sz="1200" b="0" i="0">
                <a:solidFill>
                  <a:srgbClr val="222E3C"/>
                </a:solidFill>
                <a:latin typeface="Century Gothic" panose="020B0502020202020204" pitchFamily="34" charset="0"/>
              </a:rPr>
              <a:t>Probabilistic forecasts — quantile regression to expose uncertainty to the alert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10528"/>
            <a:ext cx="64008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entury Gothic" panose="020B0502020202020204" pitchFamily="34" charset="0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1694</Words>
  <Application>Microsoft Macintosh PowerPoint</Application>
  <PresentationFormat>Widescreen</PresentationFormat>
  <Paragraphs>253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Supanut Kompayak</cp:lastModifiedBy>
  <cp:revision>2</cp:revision>
  <dcterms:created xsi:type="dcterms:W3CDTF">2013-01-27T09:14:16Z</dcterms:created>
  <dcterms:modified xsi:type="dcterms:W3CDTF">2026-04-22T16:33:14Z</dcterms:modified>
  <cp:category/>
</cp:coreProperties>
</file>