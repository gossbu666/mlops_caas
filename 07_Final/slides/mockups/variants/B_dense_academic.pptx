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CAAS · 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48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Helvetica"/>
              </a:rPr>
              <a:t>Slide 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Helvetica"/>
              </a:rPr>
              <a:t>XGBoost is the champion — lower MAE across every horizon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elvetica"/>
              </a:rPr>
              <a:t>Chronological split — train 2011–2022 · validate 2023 · test 2024–2025. 45 engineered features, 103 Optuna trials per horizon.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2651760" cy="43891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737360"/>
            <a:ext cx="2377440" cy="43891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810512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t+1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737360"/>
            <a:ext cx="2377440" cy="43891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810512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t+3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737360"/>
            <a:ext cx="2377440" cy="43891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810512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t+7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1737360"/>
            <a:ext cx="1463040" cy="43891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78440" y="181051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Alert F1 @ t+1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76272"/>
            <a:ext cx="2651760" cy="530352"/>
          </a:xfrm>
          <a:prstGeom prst="rect">
            <a:avLst/>
          </a:prstGeom>
          <a:solidFill>
            <a:srgbClr val="FFF4C2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2176272"/>
            <a:ext cx="2377440" cy="530352"/>
          </a:xfrm>
          <a:prstGeom prst="rect">
            <a:avLst/>
          </a:prstGeom>
          <a:solidFill>
            <a:srgbClr val="FFF4C2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2176272"/>
            <a:ext cx="2377440" cy="530352"/>
          </a:xfrm>
          <a:prstGeom prst="rect">
            <a:avLst/>
          </a:prstGeom>
          <a:solidFill>
            <a:srgbClr val="FFF4C2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2176272"/>
            <a:ext cx="2377440" cy="530352"/>
          </a:xfrm>
          <a:prstGeom prst="rect">
            <a:avLst/>
          </a:prstGeom>
          <a:solidFill>
            <a:srgbClr val="FFF4C2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41280" y="2176272"/>
            <a:ext cx="1463040" cy="530352"/>
          </a:xfrm>
          <a:prstGeom prst="rect">
            <a:avLst/>
          </a:prstGeom>
          <a:solidFill>
            <a:srgbClr val="FFF4C2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286000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Helvetica"/>
              </a:rPr>
              <a:t>XGBoost  ·  Champion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28600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52BA"/>
                </a:solidFill>
                <a:latin typeface="Helvetica"/>
              </a:rPr>
              <a:t>5.31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228600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52BA"/>
                </a:solidFill>
                <a:latin typeface="Helvetica"/>
              </a:rPr>
              <a:t>7.08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28600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52BA"/>
                </a:solidFill>
                <a:latin typeface="Helvetica"/>
              </a:rPr>
              <a:t>8.90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286000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Helvetica"/>
              </a:rPr>
              <a:t>0.844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706624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08960" y="2706624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0" y="2706624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2706624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241280" y="2706624"/>
            <a:ext cx="1463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816352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Helvetica"/>
              </a:rPr>
              <a:t>LSTM  ·  Comparison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2816352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Helvetica"/>
              </a:rPr>
              <a:t>6.67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2816352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Helvetica"/>
              </a:rPr>
              <a:t>8.87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2816352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Helvetica"/>
              </a:rPr>
              <a:t>8.06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281635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Helvetica"/>
              </a:rPr>
              <a:t>0.753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255264"/>
            <a:ext cx="2651760" cy="438912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08960" y="3255264"/>
            <a:ext cx="2377440" cy="438912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0" y="3255264"/>
            <a:ext cx="2377440" cy="438912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63840" y="3255264"/>
            <a:ext cx="2377440" cy="438912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41280" y="3255264"/>
            <a:ext cx="1463040" cy="438912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346704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52BA"/>
                </a:solidFill>
                <a:latin typeface="Helvetica"/>
              </a:rPr>
              <a:t>Δ MAE (lower is better)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3346704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52BA"/>
                </a:solidFill>
                <a:latin typeface="Helvetica"/>
              </a:rPr>
              <a:t>-1.36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3346704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52BA"/>
                </a:solidFill>
                <a:latin typeface="Helvetica"/>
              </a:rPr>
              <a:t>-1.79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3346704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B6B6B"/>
                </a:solidFill>
                <a:latin typeface="Helvetica"/>
              </a:rPr>
              <a:t>+0.84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334670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52BA"/>
                </a:solidFill>
                <a:latin typeface="Helvetica"/>
              </a:rPr>
              <a:t>+0.091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014216"/>
            <a:ext cx="112471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1513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52BA"/>
                </a:solidFill>
                <a:latin typeface="Helvetica"/>
              </a:rPr>
              <a:t>TAKEAWAYS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517136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XGBoost beats LSTM on MAE at every horizon and on alert F1 at t+1 (0.844 vs 0.753). Gap widens from 1.36 at t+1 to 1.79 at t+3 — fire-activity features dominate mid-horizon.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"/>
              </a:rPr>
              <a:t>Source: 03_Data/results/xgboost_summary.json · lstm_summary.json   |   Supanut Kompayak · Shuvam Shrestha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