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B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52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52BA"/>
                </a:solidFill>
                <a:latin typeface="Helvetica"/>
              </a:rPr>
              <a:t>PERFORMANCE · MAE PER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Helvetica"/>
              </a:rPr>
              <a:t>XGBoost is champion — 1.36–1.79 µg/m³ lower MAE than LSTM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5303520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82496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Helvetica"/>
              </a:rPr>
              <a:t>CHAMPION · XGBOOST (45 features)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MAE t+1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87168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F52BA"/>
                </a:solidFill>
                <a:latin typeface="Helvetica"/>
              </a:rPr>
              <a:t>5.31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Helvetica"/>
              </a:rPr>
              <a:t>Alert F1 0.844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MAE t+3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487168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F52BA"/>
                </a:solidFill>
                <a:latin typeface="Helvetica"/>
              </a:rPr>
              <a:t>7.08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Helvetica"/>
              </a:rPr>
              <a:t>Alert F1 0.723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2075688"/>
            <a:ext cx="1645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21284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"/>
              </a:rPr>
              <a:t>MAE t+7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87168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0F52BA"/>
                </a:solidFill>
                <a:latin typeface="Helvetica"/>
              </a:rPr>
              <a:t>8.90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2186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Helvetica"/>
              </a:rPr>
              <a:t>Alert F1 0.584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21608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52BA"/>
                </a:solidFill>
                <a:latin typeface="Helvetica"/>
              </a:rPr>
              <a:t>WHY XGBOOST WON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 Lower MAE at every horizon (t+1: 5.31 vs 6.67)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1596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 Higher alert F1 at t+1 (0.844 vs 0.753)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902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 Promoted via ≥5 % MAE gate on 2026-04-18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64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A1A1A"/>
                </a:solidFill>
                <a:latin typeface="Helvetica"/>
              </a:rPr>
              <a:t>•  Same 45-feature input — fair head-to-head</a:t>
            </a:r>
          </a:p>
        </p:txBody>
      </p:sp>
      <p:pic>
        <p:nvPicPr>
          <p:cNvPr id="25" name="Picture 24" descr="D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5486400" cy="349857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9360" y="50749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Helvetica"/>
              </a:rPr>
              <a:t>Test MAE, XGBoost vs LSTM, per forecast horizon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"/>
              </a:rPr>
              <a:t>Source: 03_Data/results/xgboost_summary.json · lstm_summary.json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