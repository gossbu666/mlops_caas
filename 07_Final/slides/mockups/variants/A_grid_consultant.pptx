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575" y="2513512"/>
            <a:ext cx="11854019" cy="156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32FCCC0-A7DF-BD49-9203-9054B95064AC}"/>
              </a:ext>
            </a:extLst>
          </p:cNvPr>
          <p:cNvSpPr txBox="1">
            <a:spLocks/>
          </p:cNvSpPr>
          <p:nvPr userDrawn="1"/>
        </p:nvSpPr>
        <p:spPr>
          <a:xfrm>
            <a:off x="56843" y="90575"/>
            <a:ext cx="3572013" cy="188081"/>
          </a:xfrm>
          <a:prstGeom prst="rect">
            <a:avLst/>
          </a:prstGeom>
        </p:spPr>
        <p:txBody>
          <a:bodyPr anchor="t"/>
          <a:lstStyle>
            <a:lvl1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62398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800" b="0" i="0" kern="1200" spc="30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5pPr>
            <a:lvl6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US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INNER CHAPTER </a:t>
            </a: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64" sz="quarter"/>
          </p:nvPr>
        </p:nvSpPr>
        <p:spPr>
          <a:xfrm>
            <a:off x="-91440000" y="-91440000"/>
          </a:xfrm>
        </p:spPr>
      </p:sp>
      <p:sp>
        <p:nvSpPr>
          <p:cNvPr id="3" name="Picture Placeholder 2"/>
          <p:cNvSpPr>
            <a:spLocks noGrp="1"/>
          </p:cNvSpPr>
          <p:nvPr>
            <p:ph type="pic" idx="65" sz="quarter"/>
          </p:nvPr>
        </p:nvSpPr>
        <p:spPr>
          <a:xfrm>
            <a:off x="-91440000" y="-91440000"/>
          </a:xfrm>
        </p:spPr>
      </p:sp>
      <p:sp>
        <p:nvSpPr>
          <p:cNvPr id="4" name="Picture Placeholder 3"/>
          <p:cNvSpPr>
            <a:spLocks noGrp="1"/>
          </p:cNvSpPr>
          <p:nvPr>
            <p:ph type="pic" idx="68" sz="quarter"/>
          </p:nvPr>
        </p:nvSpPr>
        <p:spPr>
          <a:xfrm>
            <a:off x="-91440000" y="-91440000"/>
          </a:xfrm>
        </p:spPr>
      </p:sp>
      <p:sp>
        <p:nvSpPr>
          <p:cNvPr id="5" name="Text Placeholder 4"/>
          <p:cNvSpPr>
            <a:spLocks noGrp="1"/>
          </p:cNvSpPr>
          <p:nvPr>
            <p:ph type="body" idx="41" sz="quarter"/>
          </p:nvPr>
        </p:nvSpPr>
        <p:spPr/>
        <p:txBody>
          <a:bodyPr/>
          <a:lstStyle/>
          <a:p>
            <a:r>
              <a:rPr b="1"/>
              <a:t>XGBoost — Champion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53" sz="quarter"/>
          </p:nvPr>
        </p:nvSpPr>
        <p:spPr/>
        <p:txBody>
          <a:bodyPr/>
          <a:lstStyle/>
          <a:p>
            <a:r>
              <a:rPr b="1"/>
              <a:t>Chronological split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r>
              <a:rPr b="1"/>
              <a:t>LSTM — Comparison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 lvl="1"/>
            <a:r>
              <a:rPr>
                <a:latin typeface="Aptos"/>
              </a:rPr>
              <a:t>45 engineered features</a:t>
            </a:r>
          </a:p>
          <a:p>
            <a:pPr lvl="1"/>
            <a:r>
              <a:rPr>
                <a:latin typeface="Aptos"/>
              </a:rPr>
              <a:t>Alert F1 0.84 at t+1</a:t>
            </a:r>
          </a:p>
          <a:p>
            <a:pPr lvl="1"/>
            <a:r>
              <a:rPr>
                <a:latin typeface="Aptos"/>
              </a:rPr>
              <a:t>Promoted via ≥5 % MAE gate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 lvl="1"/>
            <a:r>
              <a:rPr>
                <a:latin typeface="Aptos"/>
              </a:rPr>
              <a:t>Sequence model (keras)</a:t>
            </a:r>
          </a:p>
          <a:p>
            <a:pPr lvl="1"/>
            <a:r>
              <a:rPr>
                <a:latin typeface="Aptos"/>
              </a:rPr>
              <a:t>Wins only t+7 R²</a:t>
            </a:r>
          </a:p>
          <a:p>
            <a:pPr lvl="1"/>
            <a:r>
              <a:rPr>
                <a:latin typeface="Aptos"/>
              </a:rPr>
              <a:t>Same 2011–2025 dataset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 lvl="1"/>
            <a:r>
              <a:rPr>
                <a:latin typeface="Aptos"/>
              </a:rPr>
              <a:t>No leakage by construction</a:t>
            </a:r>
          </a:p>
          <a:p>
            <a:pPr lvl="1"/>
            <a:r>
              <a:rPr>
                <a:latin typeface="Aptos"/>
              </a:rPr>
              <a:t>Lag + rolling features only</a:t>
            </a:r>
          </a:p>
          <a:p>
            <a:pPr lvl="1"/>
            <a:r>
              <a:rPr>
                <a:latin typeface="Aptos"/>
              </a:rPr>
              <a:t>103 Optuna trials per horizon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 wins MAE at all three horizons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899" y="1631581"/>
            <a:ext cx="2790000" cy="1800000"/>
          </a:xfrm>
          <a:prstGeom prst="rect">
            <a:avLst/>
          </a:prstGeom>
          <a:noFill/>
          <a:ln w="12700">
            <a:solidFill>
              <a:srgbClr val="8080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808080"/>
                </a:solidFill>
              </a:rPr>
              <a:t>[Image: MAE bar chart — XGBoost vs LSTM]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97836" y="1638506"/>
            <a:ext cx="2790000" cy="1800000"/>
          </a:xfrm>
          <a:prstGeom prst="rect">
            <a:avLst/>
          </a:prstGeom>
          <a:noFill/>
          <a:ln w="12700">
            <a:solidFill>
              <a:srgbClr val="8080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808080"/>
                </a:solidFill>
              </a:rPr>
              <a:t>[Image: LSTM test loss curve]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9774" y="1631582"/>
            <a:ext cx="2790000" cy="1800000"/>
          </a:xfrm>
          <a:prstGeom prst="rect">
            <a:avLst/>
          </a:prstGeom>
          <a:noFill/>
          <a:ln w="12700">
            <a:solidFill>
              <a:srgbClr val="8080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808080"/>
                </a:solidFill>
              </a:rPr>
              <a:t>[Image: Timeline of data splits]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