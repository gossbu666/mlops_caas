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52BA"/>
                </a:solidFill>
                <a:latin typeface="Helvetica"/>
              </a:rPr>
              <a:t>CHAMPION MODEL · XGBOOST · 45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Helvetica"/>
              </a:rPr>
              <a:t>Test MAE lower than LSTM at every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45429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Forecast t+1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90565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0" b="1">
                <a:solidFill>
                  <a:srgbClr val="0F52BA"/>
                </a:solidFill>
                <a:latin typeface="Helvetica"/>
              </a:rPr>
              <a:t>5.31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elvetica"/>
              </a:rPr>
              <a:t>µg / m³   MAE (test)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52BA"/>
                </a:solidFill>
                <a:latin typeface="Helvetica"/>
              </a:rPr>
              <a:t>↓ 1.36 vs LSTM  (6.67)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2286000"/>
            <a:ext cx="345429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3018" y="2514600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Forecast t+3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834640"/>
            <a:ext cx="290565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0" b="1">
                <a:solidFill>
                  <a:srgbClr val="0F52BA"/>
                </a:solidFill>
                <a:latin typeface="Helvetica"/>
              </a:rPr>
              <a:t>7.08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06908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elvetica"/>
              </a:rPr>
              <a:t>µg / m³   MAE (test)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4389120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52BA"/>
                </a:solidFill>
                <a:latin typeface="Helvetica"/>
              </a:rPr>
              <a:t>↓ 1.79 vs LSTM  (8.87)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7316" y="2286000"/>
            <a:ext cx="345429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1636" y="2514600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Forecast t+7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2834640"/>
            <a:ext cx="290565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0" b="1">
                <a:solidFill>
                  <a:srgbClr val="0F52BA"/>
                </a:solidFill>
                <a:latin typeface="Helvetica"/>
              </a:rPr>
              <a:t>8.90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1636" y="4069080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elvetica"/>
              </a:rPr>
              <a:t>µg / m³   MAE (test)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4389120"/>
            <a:ext cx="29056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Helvetica"/>
              </a:rPr>
              <a:t>↓ -0.84 vs LSTM  (8.06)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elvetica"/>
              </a:rPr>
              <a:t>Chronological split — train 2011–2022 · validate 2023 · test 2024–2025.  No leakage, 103 Optuna trials per horizon.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elvetica"/>
              </a:rPr>
              <a:t>XGBoost advances PM2.5 forecasting beyond single-horizon baselines — promoted automatically via ≥5 % MAE gate.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"/>
              </a:rPr>
              <a:t>Source: xgboost_summary.json · lstm_summary.json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